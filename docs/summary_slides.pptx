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1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laney Collins" userId="28c8c672b3936546" providerId="LiveId" clId="{490AEE8F-97DF-49E2-A812-1699957F5335}"/>
    <pc:docChg chg="custSel delSld modSld">
      <pc:chgData name="Delaney Collins" userId="28c8c672b3936546" providerId="LiveId" clId="{490AEE8F-97DF-49E2-A812-1699957F5335}" dt="2026-10-29T23:08:34.411" v="20" actId="2696"/>
      <pc:docMkLst>
        <pc:docMk/>
      </pc:docMkLst>
      <pc:sldChg chg="delSp mod">
        <pc:chgData name="Delaney Collins" userId="28c8c672b3936546" providerId="LiveId" clId="{490AEE8F-97DF-49E2-A812-1699957F5335}" dt="2026-10-29T20:18:27.107" v="19" actId="478"/>
        <pc:sldMkLst>
          <pc:docMk/>
          <pc:sldMk cId="3996334836" sldId="256"/>
        </pc:sldMkLst>
        <pc:spChg chg="del">
          <ac:chgData name="Delaney Collins" userId="28c8c672b3936546" providerId="LiveId" clId="{490AEE8F-97DF-49E2-A812-1699957F5335}" dt="2026-10-29T20:18:27.107" v="19" actId="478"/>
          <ac:spMkLst>
            <pc:docMk/>
            <pc:sldMk cId="3996334836" sldId="256"/>
            <ac:spMk id="21" creationId="{DF5391C3-F5F8-8B01-739D-CB137ABB0318}"/>
          </ac:spMkLst>
        </pc:spChg>
      </pc:sldChg>
      <pc:sldChg chg="delSp mod">
        <pc:chgData name="Delaney Collins" userId="28c8c672b3936546" providerId="LiveId" clId="{490AEE8F-97DF-49E2-A812-1699957F5335}" dt="2026-10-29T20:17:49.967" v="2" actId="478"/>
        <pc:sldMkLst>
          <pc:docMk/>
          <pc:sldMk cId="2199222296" sldId="257"/>
        </pc:sldMkLst>
        <pc:spChg chg="del">
          <ac:chgData name="Delaney Collins" userId="28c8c672b3936546" providerId="LiveId" clId="{490AEE8F-97DF-49E2-A812-1699957F5335}" dt="2026-10-29T20:17:48.503" v="1" actId="478"/>
          <ac:spMkLst>
            <pc:docMk/>
            <pc:sldMk cId="2199222296" sldId="257"/>
            <ac:spMk id="79" creationId="{F20774F4-D503-66BE-59FB-7B50FA6666EC}"/>
          </ac:spMkLst>
        </pc:spChg>
        <pc:spChg chg="del">
          <ac:chgData name="Delaney Collins" userId="28c8c672b3936546" providerId="LiveId" clId="{490AEE8F-97DF-49E2-A812-1699957F5335}" dt="2026-10-29T20:17:49.967" v="2" actId="478"/>
          <ac:spMkLst>
            <pc:docMk/>
            <pc:sldMk cId="2199222296" sldId="257"/>
            <ac:spMk id="81" creationId="{B2FE6086-4184-18FA-7565-A913904F22CC}"/>
          </ac:spMkLst>
        </pc:spChg>
      </pc:sldChg>
      <pc:sldChg chg="delSp del mod">
        <pc:chgData name="Delaney Collins" userId="28c8c672b3936546" providerId="LiveId" clId="{490AEE8F-97DF-49E2-A812-1699957F5335}" dt="2026-10-29T23:08:34.411" v="20" actId="2696"/>
        <pc:sldMkLst>
          <pc:docMk/>
          <pc:sldMk cId="20031725" sldId="258"/>
        </pc:sldMkLst>
        <pc:spChg chg="del">
          <ac:chgData name="Delaney Collins" userId="28c8c672b3936546" providerId="LiveId" clId="{490AEE8F-97DF-49E2-A812-1699957F5335}" dt="2026-10-29T20:17:53.780" v="4" actId="478"/>
          <ac:spMkLst>
            <pc:docMk/>
            <pc:sldMk cId="20031725" sldId="258"/>
            <ac:spMk id="47" creationId="{55286080-663C-6FDF-FA50-C1548BFA639E}"/>
          </ac:spMkLst>
        </pc:spChg>
        <pc:spChg chg="del">
          <ac:chgData name="Delaney Collins" userId="28c8c672b3936546" providerId="LiveId" clId="{490AEE8F-97DF-49E2-A812-1699957F5335}" dt="2026-10-29T20:17:54.856" v="5" actId="478"/>
          <ac:spMkLst>
            <pc:docMk/>
            <pc:sldMk cId="20031725" sldId="258"/>
            <ac:spMk id="49" creationId="{4E616E9C-DFF4-C1D4-B830-C71CD2758106}"/>
          </ac:spMkLst>
        </pc:spChg>
        <pc:spChg chg="del">
          <ac:chgData name="Delaney Collins" userId="28c8c672b3936546" providerId="LiveId" clId="{490AEE8F-97DF-49E2-A812-1699957F5335}" dt="2026-10-29T20:17:52.808" v="3" actId="478"/>
          <ac:spMkLst>
            <pc:docMk/>
            <pc:sldMk cId="20031725" sldId="258"/>
            <ac:spMk id="51" creationId="{48E0C185-708A-8F69-DCA3-F5777FF2A442}"/>
          </ac:spMkLst>
        </pc:spChg>
      </pc:sldChg>
      <pc:sldChg chg="delSp mod">
        <pc:chgData name="Delaney Collins" userId="28c8c672b3936546" providerId="LiveId" clId="{490AEE8F-97DF-49E2-A812-1699957F5335}" dt="2026-10-29T20:17:58.060" v="6" actId="478"/>
        <pc:sldMkLst>
          <pc:docMk/>
          <pc:sldMk cId="430370262" sldId="259"/>
        </pc:sldMkLst>
        <pc:spChg chg="del">
          <ac:chgData name="Delaney Collins" userId="28c8c672b3936546" providerId="LiveId" clId="{490AEE8F-97DF-49E2-A812-1699957F5335}" dt="2026-10-29T20:17:58.060" v="6" actId="478"/>
          <ac:spMkLst>
            <pc:docMk/>
            <pc:sldMk cId="430370262" sldId="259"/>
            <ac:spMk id="57" creationId="{765D910D-C5DE-9ADE-B27D-6984260C2BD4}"/>
          </ac:spMkLst>
        </pc:spChg>
      </pc:sldChg>
      <pc:sldChg chg="delSp mod">
        <pc:chgData name="Delaney Collins" userId="28c8c672b3936546" providerId="LiveId" clId="{490AEE8F-97DF-49E2-A812-1699957F5335}" dt="2026-10-29T20:18:01.459" v="8" actId="478"/>
        <pc:sldMkLst>
          <pc:docMk/>
          <pc:sldMk cId="3296620504" sldId="260"/>
        </pc:sldMkLst>
        <pc:spChg chg="del">
          <ac:chgData name="Delaney Collins" userId="28c8c672b3936546" providerId="LiveId" clId="{490AEE8F-97DF-49E2-A812-1699957F5335}" dt="2026-10-29T20:18:01.459" v="8" actId="478"/>
          <ac:spMkLst>
            <pc:docMk/>
            <pc:sldMk cId="3296620504" sldId="260"/>
            <ac:spMk id="51" creationId="{B2E3157C-8307-3B1D-76F2-788135475D71}"/>
          </ac:spMkLst>
        </pc:spChg>
        <pc:spChg chg="del">
          <ac:chgData name="Delaney Collins" userId="28c8c672b3936546" providerId="LiveId" clId="{490AEE8F-97DF-49E2-A812-1699957F5335}" dt="2026-10-29T20:18:00.463" v="7" actId="478"/>
          <ac:spMkLst>
            <pc:docMk/>
            <pc:sldMk cId="3296620504" sldId="260"/>
            <ac:spMk id="53" creationId="{C3DF2B3E-3280-90C7-B1E8-C02858EB99FB}"/>
          </ac:spMkLst>
        </pc:spChg>
      </pc:sldChg>
      <pc:sldChg chg="delSp mod">
        <pc:chgData name="Delaney Collins" userId="28c8c672b3936546" providerId="LiveId" clId="{490AEE8F-97DF-49E2-A812-1699957F5335}" dt="2026-10-29T20:18:09.403" v="10" actId="478"/>
        <pc:sldMkLst>
          <pc:docMk/>
          <pc:sldMk cId="1783844892" sldId="261"/>
        </pc:sldMkLst>
        <pc:spChg chg="del">
          <ac:chgData name="Delaney Collins" userId="28c8c672b3936546" providerId="LiveId" clId="{490AEE8F-97DF-49E2-A812-1699957F5335}" dt="2026-10-29T20:18:08.480" v="9" actId="478"/>
          <ac:spMkLst>
            <pc:docMk/>
            <pc:sldMk cId="1783844892" sldId="261"/>
            <ac:spMk id="68" creationId="{4BF84CA8-955E-8060-18DA-FEF98964AA0B}"/>
          </ac:spMkLst>
        </pc:spChg>
        <pc:spChg chg="del">
          <ac:chgData name="Delaney Collins" userId="28c8c672b3936546" providerId="LiveId" clId="{490AEE8F-97DF-49E2-A812-1699957F5335}" dt="2026-10-29T20:18:09.403" v="10" actId="478"/>
          <ac:spMkLst>
            <pc:docMk/>
            <pc:sldMk cId="1783844892" sldId="261"/>
            <ac:spMk id="70" creationId="{8CA4FC7C-C88E-F139-63B9-5E3DA4F37931}"/>
          </ac:spMkLst>
        </pc:spChg>
      </pc:sldChg>
      <pc:sldChg chg="delSp mod">
        <pc:chgData name="Delaney Collins" userId="28c8c672b3936546" providerId="LiveId" clId="{490AEE8F-97DF-49E2-A812-1699957F5335}" dt="2026-10-29T20:18:13.501" v="11" actId="478"/>
        <pc:sldMkLst>
          <pc:docMk/>
          <pc:sldMk cId="536960825" sldId="262"/>
        </pc:sldMkLst>
        <pc:spChg chg="del">
          <ac:chgData name="Delaney Collins" userId="28c8c672b3936546" providerId="LiveId" clId="{490AEE8F-97DF-49E2-A812-1699957F5335}" dt="2026-10-29T20:18:13.501" v="11" actId="478"/>
          <ac:spMkLst>
            <pc:docMk/>
            <pc:sldMk cId="536960825" sldId="262"/>
            <ac:spMk id="59" creationId="{6DFAB029-E479-8EB9-8559-4B90EB63329B}"/>
          </ac:spMkLst>
        </pc:spChg>
      </pc:sldChg>
      <pc:sldChg chg="delSp modSp mod">
        <pc:chgData name="Delaney Collins" userId="28c8c672b3936546" providerId="LiveId" clId="{490AEE8F-97DF-49E2-A812-1699957F5335}" dt="2026-10-29T20:18:17.381" v="13" actId="478"/>
        <pc:sldMkLst>
          <pc:docMk/>
          <pc:sldMk cId="205145238" sldId="263"/>
        </pc:sldMkLst>
        <pc:spChg chg="del">
          <ac:chgData name="Delaney Collins" userId="28c8c672b3936546" providerId="LiveId" clId="{490AEE8F-97DF-49E2-A812-1699957F5335}" dt="2026-10-29T20:18:16.321" v="12" actId="478"/>
          <ac:spMkLst>
            <pc:docMk/>
            <pc:sldMk cId="205145238" sldId="263"/>
            <ac:spMk id="68" creationId="{495F4E67-2799-60A1-7060-7AB36C45D451}"/>
          </ac:spMkLst>
        </pc:spChg>
        <pc:spChg chg="del mod">
          <ac:chgData name="Delaney Collins" userId="28c8c672b3936546" providerId="LiveId" clId="{490AEE8F-97DF-49E2-A812-1699957F5335}" dt="2026-10-29T20:18:17.381" v="13" actId="478"/>
          <ac:spMkLst>
            <pc:docMk/>
            <pc:sldMk cId="205145238" sldId="263"/>
            <ac:spMk id="70" creationId="{48A08187-2066-BBC7-0D15-97F219C6CB89}"/>
          </ac:spMkLst>
        </pc:spChg>
      </pc:sldChg>
      <pc:sldChg chg="delSp mod">
        <pc:chgData name="Delaney Collins" userId="28c8c672b3936546" providerId="LiveId" clId="{490AEE8F-97DF-49E2-A812-1699957F5335}" dt="2026-10-29T20:18:23.824" v="18" actId="478"/>
        <pc:sldMkLst>
          <pc:docMk/>
          <pc:sldMk cId="3621191916" sldId="264"/>
        </pc:sldMkLst>
        <pc:spChg chg="del">
          <ac:chgData name="Delaney Collins" userId="28c8c672b3936546" providerId="LiveId" clId="{490AEE8F-97DF-49E2-A812-1699957F5335}" dt="2026-10-29T20:18:21.303" v="15" actId="478"/>
          <ac:spMkLst>
            <pc:docMk/>
            <pc:sldMk cId="3621191916" sldId="264"/>
            <ac:spMk id="68" creationId="{EC383E2E-C05B-4C82-069F-4C81F2B305A9}"/>
          </ac:spMkLst>
        </pc:spChg>
        <pc:spChg chg="del">
          <ac:chgData name="Delaney Collins" userId="28c8c672b3936546" providerId="LiveId" clId="{490AEE8F-97DF-49E2-A812-1699957F5335}" dt="2026-10-29T20:18:23.132" v="17" actId="478"/>
          <ac:spMkLst>
            <pc:docMk/>
            <pc:sldMk cId="3621191916" sldId="264"/>
            <ac:spMk id="70" creationId="{0B29DB52-75CC-A735-4D78-04F52ED5AB3A}"/>
          </ac:spMkLst>
        </pc:spChg>
        <pc:spChg chg="del">
          <ac:chgData name="Delaney Collins" userId="28c8c672b3936546" providerId="LiveId" clId="{490AEE8F-97DF-49E2-A812-1699957F5335}" dt="2026-10-29T20:18:20.090" v="14" actId="478"/>
          <ac:spMkLst>
            <pc:docMk/>
            <pc:sldMk cId="3621191916" sldId="264"/>
            <ac:spMk id="72" creationId="{70B2C8E6-B4C3-3145-5496-441876FAA505}"/>
          </ac:spMkLst>
        </pc:spChg>
        <pc:spChg chg="del">
          <ac:chgData name="Delaney Collins" userId="28c8c672b3936546" providerId="LiveId" clId="{490AEE8F-97DF-49E2-A812-1699957F5335}" dt="2026-10-29T20:18:22.350" v="16" actId="478"/>
          <ac:spMkLst>
            <pc:docMk/>
            <pc:sldMk cId="3621191916" sldId="264"/>
            <ac:spMk id="74" creationId="{6F938995-B636-B77F-93DC-18799C535530}"/>
          </ac:spMkLst>
        </pc:spChg>
        <pc:spChg chg="del">
          <ac:chgData name="Delaney Collins" userId="28c8c672b3936546" providerId="LiveId" clId="{490AEE8F-97DF-49E2-A812-1699957F5335}" dt="2026-10-29T20:18:23.824" v="18" actId="478"/>
          <ac:spMkLst>
            <pc:docMk/>
            <pc:sldMk cId="3621191916" sldId="264"/>
            <ac:spMk id="76" creationId="{D71A99ED-9839-7520-A0E1-0363D838537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56FCD-FC9F-B903-4577-B76234AEB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F98DEA-FA21-51B9-3F93-1A7D6FFF0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04DFA-ADE7-B9A0-A326-54FD0AE73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A521-B8C5-3DB4-F72B-AB3E58F43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A494C-472D-DD14-A02E-3E55E9CC8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6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09EF0-EBC6-CDC3-B523-A04688AF5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C1432-C01C-8645-3A07-77C94E978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4C891-4F4F-17D7-2184-F765B58F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DDBF4-3348-52F5-924B-74A912141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E2D1C-AD56-5EE2-8CE3-8A6FE25D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0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D9FE-FD87-95C7-CBEB-1434E0D5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2D285-8913-0E93-41E2-04E33594A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FFF3A-B70D-4284-26E5-7F42F1110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FE0D5-2B4D-39FE-D90C-C4618DF6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3E0A-4952-A5CB-9C81-4FBEA3F5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92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E1E5-CAFE-630B-E82F-F6F3ECAEE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59DB1-EAF0-C222-3BE6-22EF52F0B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25871-9261-B76D-F999-5C4ECA75E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A49EC-C9AC-7816-CC41-EAD067F8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E358E-9734-98E9-58F9-C4B5AF85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5B04F-5CDE-A5D7-212B-A64950DE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03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CAFAE-9B69-0E51-30F2-782A3BEE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0DEBF-BD3F-857F-DA4B-3C764A956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3B0F1-500E-A9B6-1282-70DFEFC9A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E7D2DD-AFC6-0D86-26B9-E499C4153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74AC2-B344-0336-9861-F8C712D6B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62D23-03AB-9C13-FC43-E37C0BF4A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D8050-4484-37DA-AA6F-FDFB3E65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190B3F-2163-165B-1CF7-83F93F1F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65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5FE2-3EB5-5959-6CD7-053C9497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75E91-80ED-B6FC-C606-4EC476118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5355E-9369-DF15-CAA8-9C846AD74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97FD8-48E5-D1EF-C05C-6DB7F764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55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0E883-C771-F93B-52EB-25414D234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7EF90-0BE4-6F6C-E9A3-DA6AB1FD8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E1286-A763-3706-C8A9-3C99FF33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7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2CD4-2ADA-B884-4C00-FEDDFD7E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9667F-3B25-59E2-E2B6-8CA8FD087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90FCE-F411-D806-C37A-25EAA7C00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6E43E-A0C4-CEB6-133B-408BC451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C7C32-0D09-92B3-8328-7B24F827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702F2-2434-D6E0-3E3A-B7D601FF9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8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3D06E-C666-8BDA-5E33-937A61E6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8673BD-0B34-270F-B7B0-86BD494B02C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5F9FF-E0B6-E226-7DE3-796D2BBCB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81F15-8865-E0F2-EF11-40FC1FC9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39C3C-8F15-44E3-AC7D-3E0BFCBF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89891-A180-157E-3089-AC95351B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3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8B8D3-12C6-7D96-9D9F-C3FA4E65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4D856-37DE-2177-2EA9-DBF9C9C1B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4A9B-E8BA-2557-DC2F-547589B0B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90092-8799-CFD6-5C9B-736A479A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81DBE-C7D2-F816-EA2E-5C04BD2F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71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3DF8F1-8244-051A-6C69-E91DAA784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BAD23-35F8-04AE-2D07-729A84653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DE1C0-D958-F05B-DEA0-D9AE6065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0D16-88CD-18EB-3262-DA9275CC0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C716C-2736-87B2-EAE6-2F7CE595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2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8E8CC-8F1D-BFB0-CF93-D7100AF00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D1C7B-516D-CB10-0C38-B6956C464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6D151-FB98-7C8A-2176-8932F3C6B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2C9920-4BFF-433E-BB1C-9EDE8B5DFD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07742-C42F-D065-7DEE-D037FBA30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02065-6A4D-13E1-4E03-DDEEB0F3A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C322E-3B2B-4770-88FA-904AD6D26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8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1B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71EAF05-DAA1-0A2B-C5AE-EFA547117F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76F51"/>
          </a:solidFill>
          <a:ln w="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D434EB-30EB-CC3A-A633-C8FB2AF1EECC}"/>
              </a:ext>
            </a:extLst>
          </p:cNvPr>
          <p:cNvSpPr>
            <a:spLocks noGrp="1"/>
          </p:cNvSpPr>
          <p:nvPr/>
        </p:nvSpPr>
        <p:spPr>
          <a:xfrm>
            <a:off x="1214438" y="2738437"/>
            <a:ext cx="685800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Bugphyzz and ASR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AA678D-B5ED-D3DB-A62E-57F7F58BEDAE}"/>
              </a:ext>
            </a:extLst>
          </p:cNvPr>
          <p:cNvSpPr>
            <a:spLocks noGrp="1"/>
          </p:cNvSpPr>
          <p:nvPr/>
        </p:nvSpPr>
        <p:spPr>
          <a:xfrm>
            <a:off x="8286750" y="1219200"/>
            <a:ext cx="2857500" cy="3619500"/>
          </a:xfrm>
          <a:prstGeom prst="roundRect">
            <a:avLst>
              <a:gd name="adj" fmla="val 2667"/>
            </a:avLst>
          </a:prstGeom>
          <a:solidFill>
            <a:schemeClr val="accent1">
              <a:alpha val="11000"/>
            </a:schemeClr>
          </a:solidFill>
          <a:ln w="9525">
            <a:solidFill>
              <a:srgbClr val="2147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B82C8-7330-4F33-EF32-1EF7C5C5E268}"/>
              </a:ext>
            </a:extLst>
          </p:cNvPr>
          <p:cNvSpPr>
            <a:spLocks noGrp="1"/>
          </p:cNvSpPr>
          <p:nvPr/>
        </p:nvSpPr>
        <p:spPr>
          <a:xfrm>
            <a:off x="8667750" y="15811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D9D4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1FE88B-4B40-9D14-C1E8-4A934FEC1355}"/>
              </a:ext>
            </a:extLst>
          </p:cNvPr>
          <p:cNvSpPr>
            <a:spLocks noGrp="1"/>
          </p:cNvSpPr>
          <p:nvPr/>
        </p:nvSpPr>
        <p:spPr>
          <a:xfrm>
            <a:off x="8667750" y="1905000"/>
            <a:ext cx="2095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Google Sheets</a:t>
            </a:r>
          </a:p>
          <a:p>
            <a: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BacDive</a:t>
            </a:r>
          </a:p>
          <a:p>
            <a: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files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EB11C1-86EA-7E5B-7359-9B89B450E6C5}"/>
              </a:ext>
            </a:extLst>
          </p:cNvPr>
          <p:cNvSpPr>
            <a:spLocks noGrp="1"/>
          </p:cNvSpPr>
          <p:nvPr/>
        </p:nvSpPr>
        <p:spPr>
          <a:xfrm>
            <a:off x="8667750" y="3028950"/>
            <a:ext cx="1762125" cy="38100"/>
          </a:xfrm>
          <a:prstGeom prst="rect">
            <a:avLst/>
          </a:prstGeom>
          <a:solidFill>
            <a:srgbClr val="E76F51"/>
          </a:solidFill>
          <a:ln w="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9E1399-AD70-D8E3-6F2E-24F144C1A823}"/>
              </a:ext>
            </a:extLst>
          </p:cNvPr>
          <p:cNvSpPr>
            <a:spLocks noGrp="1"/>
          </p:cNvSpPr>
          <p:nvPr/>
        </p:nvSpPr>
        <p:spPr>
          <a:xfrm>
            <a:off x="8667750" y="3286125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1">
                <a:solidFill>
                  <a:srgbClr val="B9D9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D9D4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69E112-CD19-80B2-9219-8AE3D7CB5271}"/>
              </a:ext>
            </a:extLst>
          </p:cNvPr>
          <p:cNvSpPr>
            <a:spLocks noGrp="1"/>
          </p:cNvSpPr>
          <p:nvPr/>
        </p:nvSpPr>
        <p:spPr>
          <a:xfrm>
            <a:off x="8667750" y="361950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CSV resources</a:t>
            </a:r>
          </a:p>
          <a:p>
            <a: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GMT signatures</a:t>
            </a:r>
          </a:p>
        </p:txBody>
      </p:sp>
    </p:spTree>
    <p:extLst>
      <p:ext uri="{BB962C8B-B14F-4D97-AF65-F5344CB8AC3E}">
        <p14:creationId xmlns:p14="http://schemas.microsoft.com/office/powerpoint/2010/main" val="3996334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FBC9E7-EB39-3188-AEDF-E12AFF982C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030A0"/>
          </a:solidFill>
          <a:ln w="0">
            <a:solidFill>
              <a:srgbClr val="177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7E0905-1A15-0359-5BE6-8A66879CF3FB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0896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End-to-end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569951-F3EF-DB6D-71B7-54CA03FC3494}"/>
              </a:ext>
            </a:extLst>
          </p:cNvPr>
          <p:cNvSpPr>
            <a:spLocks noGrp="1"/>
          </p:cNvSpPr>
          <p:nvPr/>
        </p:nvSpPr>
        <p:spPr>
          <a:xfrm>
            <a:off x="647700" y="1104900"/>
            <a:ext cx="10896600" cy="19050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4277EE7-8206-DBD0-7A2E-ADBE0B8A2AEB}"/>
              </a:ext>
            </a:extLst>
          </p:cNvPr>
          <p:cNvSpPr>
            <a:spLocks noGrp="1"/>
          </p:cNvSpPr>
          <p:nvPr/>
        </p:nvSpPr>
        <p:spPr>
          <a:xfrm>
            <a:off x="647700" y="1809750"/>
            <a:ext cx="1619250" cy="2238375"/>
          </a:xfrm>
          <a:prstGeom prst="roundRect">
            <a:avLst>
              <a:gd name="adj" fmla="val 4706"/>
            </a:avLst>
          </a:prstGeom>
          <a:solidFill>
            <a:srgbClr val="EAF3F2"/>
          </a:solidFill>
          <a:ln w="9525">
            <a:solidFill>
              <a:srgbClr val="B9D9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F313DF-A354-DE1B-528F-6ADC9936A9FC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419100" cy="419100"/>
          </a:xfrm>
          <a:prstGeom prst="rect">
            <a:avLst/>
          </a:prstGeom>
          <a:solidFill>
            <a:srgbClr val="177E89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E6FD92-05CE-B629-C5A3-BBC26605E49C}"/>
              </a:ext>
            </a:extLst>
          </p:cNvPr>
          <p:cNvSpPr>
            <a:spLocks noGrp="1"/>
          </p:cNvSpPr>
          <p:nvPr/>
        </p:nvSpPr>
        <p:spPr>
          <a:xfrm>
            <a:off x="819150" y="2619375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>
            <a:def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7A6DE3-FFA5-F905-0534-583E4BAB0327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12858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Official sources or user files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DC7B25-0F26-208D-3B78-4C725494179A}"/>
              </a:ext>
            </a:extLst>
          </p:cNvPr>
          <p:cNvSpPr>
            <a:spLocks noGrp="1"/>
          </p:cNvSpPr>
          <p:nvPr/>
        </p:nvSpPr>
        <p:spPr>
          <a:xfrm>
            <a:off x="2266950" y="2905125"/>
            <a:ext cx="228600" cy="38100"/>
          </a:xfrm>
          <a:prstGeom prst="rect">
            <a:avLst/>
          </a:prstGeom>
          <a:solidFill>
            <a:srgbClr val="D8A23D"/>
          </a:solidFill>
          <a:ln w="0">
            <a:solidFill>
              <a:srgbClr val="D8A2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5744B8C-E7A9-0A7E-E7A3-17EFC5CCE106}"/>
              </a:ext>
            </a:extLst>
          </p:cNvPr>
          <p:cNvSpPr>
            <a:spLocks noGrp="1"/>
          </p:cNvSpPr>
          <p:nvPr/>
        </p:nvSpPr>
        <p:spPr>
          <a:xfrm>
            <a:off x="2495550" y="1809750"/>
            <a:ext cx="1619250" cy="2238375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 w="9525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879973-5B5A-5F6F-4693-2875E479E5B1}"/>
              </a:ext>
            </a:extLst>
          </p:cNvPr>
          <p:cNvSpPr>
            <a:spLocks noGrp="1"/>
          </p:cNvSpPr>
          <p:nvPr/>
        </p:nvSpPr>
        <p:spPr>
          <a:xfrm>
            <a:off x="2667000" y="2000250"/>
            <a:ext cx="419100" cy="419100"/>
          </a:xfrm>
          <a:prstGeom prst="rect">
            <a:avLst/>
          </a:prstGeom>
          <a:solidFill>
            <a:srgbClr val="177E89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B937DB-285C-E31C-02FB-B3A74FD18586}"/>
              </a:ext>
            </a:extLst>
          </p:cNvPr>
          <p:cNvSpPr>
            <a:spLocks noGrp="1"/>
          </p:cNvSpPr>
          <p:nvPr/>
        </p:nvSpPr>
        <p:spPr>
          <a:xfrm>
            <a:off x="2667000" y="2619375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>
            <a:def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CE590B-4840-D8A6-AFE3-0B0D16C85570}"/>
              </a:ext>
            </a:extLst>
          </p:cNvPr>
          <p:cNvSpPr>
            <a:spLocks noGrp="1"/>
          </p:cNvSpPr>
          <p:nvPr/>
        </p:nvSpPr>
        <p:spPr>
          <a:xfrm>
            <a:off x="2667000" y="3067050"/>
            <a:ext cx="12858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Vocabulary, IDs, evidence, numeric validity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8DAB5A-9184-D9ED-02CB-E7E0DA059D10}"/>
              </a:ext>
            </a:extLst>
          </p:cNvPr>
          <p:cNvSpPr>
            <a:spLocks noGrp="1"/>
          </p:cNvSpPr>
          <p:nvPr/>
        </p:nvSpPr>
        <p:spPr>
          <a:xfrm>
            <a:off x="4114800" y="2905125"/>
            <a:ext cx="228600" cy="38100"/>
          </a:xfrm>
          <a:prstGeom prst="rect">
            <a:avLst/>
          </a:prstGeom>
          <a:solidFill>
            <a:srgbClr val="D8A23D"/>
          </a:solidFill>
          <a:ln w="0">
            <a:solidFill>
              <a:srgbClr val="D8A2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B0AE66B-BF10-59D6-1367-689A0B7DDFC0}"/>
              </a:ext>
            </a:extLst>
          </p:cNvPr>
          <p:cNvSpPr>
            <a:spLocks noGrp="1"/>
          </p:cNvSpPr>
          <p:nvPr/>
        </p:nvSpPr>
        <p:spPr>
          <a:xfrm>
            <a:off x="4343400" y="1809750"/>
            <a:ext cx="1619250" cy="2238375"/>
          </a:xfrm>
          <a:prstGeom prst="roundRect">
            <a:avLst>
              <a:gd name="adj" fmla="val 4706"/>
            </a:avLst>
          </a:prstGeom>
          <a:solidFill>
            <a:srgbClr val="EAF3F2"/>
          </a:solidFill>
          <a:ln w="9525">
            <a:solidFill>
              <a:srgbClr val="B9D9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DB8B41-D863-8D38-EDB7-18F7C09A9CB0}"/>
              </a:ext>
            </a:extLst>
          </p:cNvPr>
          <p:cNvSpPr>
            <a:spLocks noGrp="1"/>
          </p:cNvSpPr>
          <p:nvPr/>
        </p:nvSpPr>
        <p:spPr>
          <a:xfrm>
            <a:off x="4514850" y="2000250"/>
            <a:ext cx="419100" cy="419100"/>
          </a:xfrm>
          <a:prstGeom prst="rect">
            <a:avLst/>
          </a:prstGeom>
          <a:solidFill>
            <a:srgbClr val="177E89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00758B-1C7D-2FEE-FEB1-9754E85B043C}"/>
              </a:ext>
            </a:extLst>
          </p:cNvPr>
          <p:cNvSpPr>
            <a:spLocks noGrp="1"/>
          </p:cNvSpPr>
          <p:nvPr/>
        </p:nvSpPr>
        <p:spPr>
          <a:xfrm>
            <a:off x="4514850" y="2619375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>
            <a:def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FCB549-4ACD-9FCA-9170-DC37B4BB2D1E}"/>
              </a:ext>
            </a:extLst>
          </p:cNvPr>
          <p:cNvSpPr>
            <a:spLocks noGrp="1"/>
          </p:cNvSpPr>
          <p:nvPr/>
        </p:nvSpPr>
        <p:spPr>
          <a:xfrm>
            <a:off x="4514850" y="3067050"/>
            <a:ext cx="12858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000" lnSpcReduction="10000"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Resolve direct and parent taxonomy observations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01A632-7C6C-C75D-28B2-1898D853C7C1}"/>
              </a:ext>
            </a:extLst>
          </p:cNvPr>
          <p:cNvSpPr>
            <a:spLocks noGrp="1"/>
          </p:cNvSpPr>
          <p:nvPr/>
        </p:nvSpPr>
        <p:spPr>
          <a:xfrm>
            <a:off x="5962650" y="2905125"/>
            <a:ext cx="228600" cy="38100"/>
          </a:xfrm>
          <a:prstGeom prst="rect">
            <a:avLst/>
          </a:prstGeom>
          <a:solidFill>
            <a:srgbClr val="D8A23D"/>
          </a:solidFill>
          <a:ln w="0">
            <a:solidFill>
              <a:srgbClr val="D8A2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8BF9FEA-FAF0-B863-3F7C-84B468E14A0C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1619250" cy="2238375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 w="9525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C36E495-DCD7-376C-E749-71C69007CA5E}"/>
              </a:ext>
            </a:extLst>
          </p:cNvPr>
          <p:cNvSpPr>
            <a:spLocks noGrp="1"/>
          </p:cNvSpPr>
          <p:nvPr/>
        </p:nvSpPr>
        <p:spPr>
          <a:xfrm>
            <a:off x="6362700" y="2000250"/>
            <a:ext cx="419100" cy="419100"/>
          </a:xfrm>
          <a:prstGeom prst="rect">
            <a:avLst/>
          </a:prstGeom>
          <a:solidFill>
            <a:srgbClr val="177E89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C55E911-40E6-E395-D6D0-38BC8C2950AE}"/>
              </a:ext>
            </a:extLst>
          </p:cNvPr>
          <p:cNvSpPr>
            <a:spLocks noGrp="1"/>
          </p:cNvSpPr>
          <p:nvPr/>
        </p:nvSpPr>
        <p:spPr>
          <a:xfrm>
            <a:off x="6362700" y="2619375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>
            <a:def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Propagate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BD1FCF6-D2F9-0195-6F25-BAD5C459130F}"/>
              </a:ext>
            </a:extLst>
          </p:cNvPr>
          <p:cNvSpPr>
            <a:spLocks noGrp="1"/>
          </p:cNvSpPr>
          <p:nvPr/>
        </p:nvSpPr>
        <p:spPr>
          <a:xfrm>
            <a:off x="6362700" y="3067050"/>
            <a:ext cx="12858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Discrete or continuous ASR; union bypass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EF95828-FBA7-4C84-0A1C-337E87CD0E92}"/>
              </a:ext>
            </a:extLst>
          </p:cNvPr>
          <p:cNvSpPr>
            <a:spLocks noGrp="1"/>
          </p:cNvSpPr>
          <p:nvPr/>
        </p:nvSpPr>
        <p:spPr>
          <a:xfrm>
            <a:off x="7810500" y="2905125"/>
            <a:ext cx="228600" cy="38100"/>
          </a:xfrm>
          <a:prstGeom prst="rect">
            <a:avLst/>
          </a:prstGeom>
          <a:solidFill>
            <a:srgbClr val="D8A23D"/>
          </a:solidFill>
          <a:ln w="0">
            <a:solidFill>
              <a:srgbClr val="D8A2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2020B00-4916-7EE4-E84B-971555660A0D}"/>
              </a:ext>
            </a:extLst>
          </p:cNvPr>
          <p:cNvSpPr>
            <a:spLocks noGrp="1"/>
          </p:cNvSpPr>
          <p:nvPr/>
        </p:nvSpPr>
        <p:spPr>
          <a:xfrm>
            <a:off x="8039100" y="1809750"/>
            <a:ext cx="1619250" cy="2238375"/>
          </a:xfrm>
          <a:prstGeom prst="roundRect">
            <a:avLst>
              <a:gd name="adj" fmla="val 4706"/>
            </a:avLst>
          </a:prstGeom>
          <a:solidFill>
            <a:srgbClr val="EAF3F2"/>
          </a:solidFill>
          <a:ln w="9525">
            <a:solidFill>
              <a:srgbClr val="B9D9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9D745FB-754A-7195-B0AE-0391A2C274AB}"/>
              </a:ext>
            </a:extLst>
          </p:cNvPr>
          <p:cNvSpPr>
            <a:spLocks noGrp="1"/>
          </p:cNvSpPr>
          <p:nvPr/>
        </p:nvSpPr>
        <p:spPr>
          <a:xfrm>
            <a:off x="8210550" y="2000250"/>
            <a:ext cx="419100" cy="419100"/>
          </a:xfrm>
          <a:prstGeom prst="rect">
            <a:avLst/>
          </a:prstGeom>
          <a:solidFill>
            <a:srgbClr val="177E89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B36DFF8-44C2-AC16-E338-F3C360DAADAA}"/>
              </a:ext>
            </a:extLst>
          </p:cNvPr>
          <p:cNvSpPr>
            <a:spLocks noGrp="1"/>
          </p:cNvSpPr>
          <p:nvPr/>
        </p:nvSpPr>
        <p:spPr>
          <a:xfrm>
            <a:off x="8210550" y="2619375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>
            <a:def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Assemble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A69E4F5-1EAF-B2F0-7A42-D1B0318C533F}"/>
              </a:ext>
            </a:extLst>
          </p:cNvPr>
          <p:cNvSpPr>
            <a:spLocks noGrp="1"/>
          </p:cNvSpPr>
          <p:nvPr/>
        </p:nvSpPr>
        <p:spPr>
          <a:xfrm>
            <a:off x="8210550" y="3067050"/>
            <a:ext cx="12858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Observed rows plus mapped predictions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9BA55C2-DDAA-A3B7-4C1A-1EEAEBB56B26}"/>
              </a:ext>
            </a:extLst>
          </p:cNvPr>
          <p:cNvSpPr>
            <a:spLocks noGrp="1"/>
          </p:cNvSpPr>
          <p:nvPr/>
        </p:nvSpPr>
        <p:spPr>
          <a:xfrm>
            <a:off x="9658350" y="2905125"/>
            <a:ext cx="228600" cy="38100"/>
          </a:xfrm>
          <a:prstGeom prst="rect">
            <a:avLst/>
          </a:prstGeom>
          <a:solidFill>
            <a:srgbClr val="D8A23D"/>
          </a:solidFill>
          <a:ln w="0">
            <a:solidFill>
              <a:srgbClr val="D8A2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E19D8D0-8F5B-FB7B-B074-3B477ECA38DF}"/>
              </a:ext>
            </a:extLst>
          </p:cNvPr>
          <p:cNvSpPr>
            <a:spLocks noGrp="1"/>
          </p:cNvSpPr>
          <p:nvPr/>
        </p:nvSpPr>
        <p:spPr>
          <a:xfrm>
            <a:off x="9886950" y="1809750"/>
            <a:ext cx="1619250" cy="2238375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 w="9525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537F0BF-7CE6-C1DF-4CE3-17EEB5A4A67E}"/>
              </a:ext>
            </a:extLst>
          </p:cNvPr>
          <p:cNvSpPr>
            <a:spLocks noGrp="1"/>
          </p:cNvSpPr>
          <p:nvPr/>
        </p:nvSpPr>
        <p:spPr>
          <a:xfrm>
            <a:off x="10058400" y="2000250"/>
            <a:ext cx="419100" cy="41910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ECC176E-A52C-2190-8C46-3D5F801A3101}"/>
              </a:ext>
            </a:extLst>
          </p:cNvPr>
          <p:cNvSpPr>
            <a:spLocks noGrp="1"/>
          </p:cNvSpPr>
          <p:nvPr/>
        </p:nvSpPr>
        <p:spPr>
          <a:xfrm>
            <a:off x="10058400" y="2619375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>
            <a:def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865DF64-1F2A-7C67-CD11-460D396E8C19}"/>
              </a:ext>
            </a:extLst>
          </p:cNvPr>
          <p:cNvSpPr>
            <a:spLocks noGrp="1"/>
          </p:cNvSpPr>
          <p:nvPr/>
        </p:nvSpPr>
        <p:spPr>
          <a:xfrm>
            <a:off x="10058400" y="3067050"/>
            <a:ext cx="12858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Three CSV resources and eight GMT files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81C4CCE-FB42-BCB6-B9C3-8B0F8A3EE671}"/>
              </a:ext>
            </a:extLst>
          </p:cNvPr>
          <p:cNvSpPr>
            <a:spLocks noGrp="1"/>
          </p:cNvSpPr>
          <p:nvPr/>
        </p:nvSpPr>
        <p:spPr>
          <a:xfrm>
            <a:off x="647700" y="461962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48" lnSpcReduction="10000"/>
          </a:bodyPr>
          <a:lstStyle>
            <a:def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Inspectability is intentional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FCB39AD-7B53-DEF6-C082-1FEEAE42613F}"/>
              </a:ext>
            </a:extLst>
          </p:cNvPr>
          <p:cNvSpPr>
            <a:spLocks noGrp="1"/>
          </p:cNvSpPr>
          <p:nvPr/>
        </p:nvSpPr>
        <p:spPr>
          <a:xfrm>
            <a:off x="647700" y="5000625"/>
            <a:ext cx="685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5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BugphyzzPipelineResult retains filtered tables, prepared tables, skipped traits, final resources, and output paths.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E30F25C3-712F-09F1-1D9C-AF4395589F9B}"/>
              </a:ext>
            </a:extLst>
          </p:cNvPr>
          <p:cNvSpPr>
            <a:spLocks noGrp="1"/>
          </p:cNvSpPr>
          <p:nvPr/>
        </p:nvSpPr>
        <p:spPr>
          <a:xfrm>
            <a:off x="8239125" y="4524375"/>
            <a:ext cx="3286125" cy="1428750"/>
          </a:xfrm>
          <a:prstGeom prst="roundRect">
            <a:avLst>
              <a:gd name="adj" fmla="val 5333"/>
            </a:avLst>
          </a:prstGeom>
          <a:solidFill>
            <a:srgbClr val="102638"/>
          </a:solidFill>
          <a:ln w="9525">
            <a:solidFill>
              <a:srgbClr val="1026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3800757-1AE8-26C4-D4E1-33E8FF9D5594}"/>
              </a:ext>
            </a:extLst>
          </p:cNvPr>
          <p:cNvSpPr>
            <a:spLocks noGrp="1"/>
          </p:cNvSpPr>
          <p:nvPr/>
        </p:nvSpPr>
        <p:spPr>
          <a:xfrm>
            <a:off x="8410575" y="4657725"/>
            <a:ext cx="2943225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CF3F4"/>
                </a:solidFill>
                <a:latin typeface="Consolas"/>
                <a:ea typeface="Consolas"/>
                <a:cs typeface="Consolas"/>
              </a:rPr>
              <a:t>result.filtered_traits</a:t>
            </a:r>
          </a:p>
          <a:p>
            <a: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CF3F4"/>
                </a:solidFill>
                <a:latin typeface="Consolas"/>
                <a:ea typeface="Consolas"/>
                <a:cs typeface="Consolas"/>
              </a:rPr>
              <a:t>result.prepared_traits</a:t>
            </a:r>
          </a:p>
          <a:p>
            <a: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CF3F4"/>
                </a:solidFill>
                <a:latin typeface="Consolas"/>
                <a:ea typeface="Consolas"/>
                <a:cs typeface="Consolas"/>
              </a:rPr>
              <a:t>result.skipped_traits</a:t>
            </a:r>
          </a:p>
          <a:p>
            <a:pPr>
              <a:buNone/>
              <a:defRPr sz="1200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CF3F4"/>
                </a:solidFill>
                <a:latin typeface="Consolas"/>
                <a:ea typeface="Consolas"/>
                <a:cs typeface="Consolas"/>
              </a:rPr>
              <a:t>result.build.paths</a:t>
            </a:r>
          </a:p>
        </p:txBody>
      </p:sp>
    </p:spTree>
    <p:extLst>
      <p:ext uri="{BB962C8B-B14F-4D97-AF65-F5344CB8AC3E}">
        <p14:creationId xmlns:p14="http://schemas.microsoft.com/office/powerpoint/2010/main" val="2199222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18BE46-575C-0F54-6B8F-23233D8EC3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030A0"/>
          </a:solidFill>
          <a:ln w="0">
            <a:solidFill>
              <a:srgbClr val="177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8BCBC9-9B64-25D4-BAE1-6AD3FD9E8C32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0896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Observation schema and trait types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EAA6F8-DDA6-2F47-ED65-34095CFC23C4}"/>
              </a:ext>
            </a:extLst>
          </p:cNvPr>
          <p:cNvSpPr>
            <a:spLocks noGrp="1"/>
          </p:cNvSpPr>
          <p:nvPr/>
        </p:nvSpPr>
        <p:spPr>
          <a:xfrm>
            <a:off x="647700" y="1104900"/>
            <a:ext cx="10896600" cy="19050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90ED7D-40C5-E708-C745-E038948889EA}"/>
              </a:ext>
            </a:extLst>
          </p:cNvPr>
          <p:cNvSpPr>
            <a:spLocks noGrp="1"/>
          </p:cNvSpPr>
          <p:nvPr/>
        </p:nvSpPr>
        <p:spPr>
          <a:xfrm>
            <a:off x="647700" y="1409700"/>
            <a:ext cx="4857750" cy="4095750"/>
          </a:xfrm>
          <a:prstGeom prst="roundRect">
            <a:avLst>
              <a:gd name="adj" fmla="val 1860"/>
            </a:avLst>
          </a:prstGeom>
          <a:solidFill>
            <a:srgbClr val="FFFDF8"/>
          </a:solidFill>
          <a:ln w="9525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517BAA-87B9-82F4-4031-04511410787B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REQUIRED FOR EVERY RAW TABLE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68B8C1-D96B-BEDC-35F8-F69C5119983A}"/>
              </a:ext>
            </a:extLst>
          </p:cNvPr>
          <p:cNvSpPr>
            <a:spLocks noGrp="1"/>
          </p:cNvSpPr>
          <p:nvPr/>
        </p:nvSpPr>
        <p:spPr>
          <a:xfrm>
            <a:off x="914400" y="2038350"/>
            <a:ext cx="4333875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NCBI_ID or Parent_NCBI_ID</a:t>
            </a:r>
          </a:p>
          <a:p>
            <a: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Taxon_name</a:t>
            </a:r>
          </a:p>
          <a:p>
            <a: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t>Attribute</a:t>
            </a:r>
          </a:p>
          <a:p>
            <a: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Attribute</a:t>
            </a:r>
            <a:r>
              <a:t> value</a:t>
            </a:r>
            <a:endParaRPr sz="1350" b="0">
              <a:solidFill>
                <a:srgbClr val="17324D"/>
              </a:solidFill>
              <a:latin typeface="Consolas"/>
              <a:ea typeface="Consolas"/>
              <a:cs typeface="Consolas"/>
            </a:endParaRPr>
          </a:p>
          <a:p>
            <a: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Attribute_source</a:t>
            </a:r>
          </a:p>
          <a:p>
            <a: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Confidence_in_curation</a:t>
            </a:r>
          </a:p>
          <a:p>
            <a: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Frequency and Evidence</a:t>
            </a:r>
          </a:p>
          <a:p>
            <a:pPr>
              <a:buNone/>
              <a:defRPr sz="135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Attribute_type and Attribute_group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50B6F5-18C0-A28C-6652-FDC60229725B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118"/>
          </a:bodyPr>
          <a:lstStyle>
            <a:defPPr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One file contains one Attribute_type and one Attribute_group.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33F9DE-AAED-FB64-707E-380EED4A3394}"/>
              </a:ext>
            </a:extLst>
          </p:cNvPr>
          <p:cNvSpPr>
            <a:spLocks noGrp="1"/>
          </p:cNvSpPr>
          <p:nvPr/>
        </p:nvSpPr>
        <p:spPr>
          <a:xfrm>
            <a:off x="5953125" y="14859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TYPE-SPECIFIC BEHAVIOR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DD4AB8-5B55-B435-61C7-CD44ACB6EAE5}"/>
              </a:ext>
            </a:extLst>
          </p:cNvPr>
          <p:cNvSpPr>
            <a:spLocks noGrp="1"/>
          </p:cNvSpPr>
          <p:nvPr/>
        </p:nvSpPr>
        <p:spPr>
          <a:xfrm>
            <a:off x="5953125" y="19050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binary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B30856-B629-F7AD-7855-4B678B3E9B8B}"/>
              </a:ext>
            </a:extLst>
          </p:cNvPr>
          <p:cNvSpPr>
            <a:spLocks noGrp="1"/>
          </p:cNvSpPr>
          <p:nvPr/>
        </p:nvSpPr>
        <p:spPr>
          <a:xfrm>
            <a:off x="5953125" y="2247900"/>
            <a:ext cx="500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611" lnSpcReduction="10000"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Attribute + Attribute_value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07E6DA-D567-951B-A046-3F6D034D0841}"/>
              </a:ext>
            </a:extLst>
          </p:cNvPr>
          <p:cNvSpPr>
            <a:spLocks noGrp="1"/>
          </p:cNvSpPr>
          <p:nvPr/>
        </p:nvSpPr>
        <p:spPr>
          <a:xfrm>
            <a:off x="8763000" y="1905000"/>
            <a:ext cx="2714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ASR when coverage ≥ 1%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6C186A-8F1C-BC76-9B43-78007A1B3108}"/>
              </a:ext>
            </a:extLst>
          </p:cNvPr>
          <p:cNvSpPr>
            <a:spLocks noGrp="1"/>
          </p:cNvSpPr>
          <p:nvPr/>
        </p:nvSpPr>
        <p:spPr>
          <a:xfrm>
            <a:off x="5953125" y="2590800"/>
            <a:ext cx="5524500" cy="19050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ACF54F-763C-49BF-D4E7-B5368E382276}"/>
              </a:ext>
            </a:extLst>
          </p:cNvPr>
          <p:cNvSpPr>
            <a:spLocks noGrp="1"/>
          </p:cNvSpPr>
          <p:nvPr/>
        </p:nvSpPr>
        <p:spPr>
          <a:xfrm>
            <a:off x="5953125" y="27813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multistate-intersection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E960D9E-5AAB-372D-DD08-8E684CC99BC5}"/>
              </a:ext>
            </a:extLst>
          </p:cNvPr>
          <p:cNvSpPr>
            <a:spLocks noGrp="1"/>
          </p:cNvSpPr>
          <p:nvPr/>
        </p:nvSpPr>
        <p:spPr>
          <a:xfrm>
            <a:off x="5953125" y="3124200"/>
            <a:ext cx="500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611" lnSpcReduction="10000"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Attribute + Attribute_value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F6C3C4-F315-7BB6-2D66-CA5539CACE45}"/>
              </a:ext>
            </a:extLst>
          </p:cNvPr>
          <p:cNvSpPr>
            <a:spLocks noGrp="1"/>
          </p:cNvSpPr>
          <p:nvPr/>
        </p:nvSpPr>
        <p:spPr>
          <a:xfrm>
            <a:off x="8763000" y="2781300"/>
            <a:ext cx="2714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ASR when coverage ≥ 1%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F147A7-4723-B26D-7523-F7626E4C1FC2}"/>
              </a:ext>
            </a:extLst>
          </p:cNvPr>
          <p:cNvSpPr>
            <a:spLocks noGrp="1"/>
          </p:cNvSpPr>
          <p:nvPr/>
        </p:nvSpPr>
        <p:spPr>
          <a:xfrm>
            <a:off x="5953125" y="3467100"/>
            <a:ext cx="5524500" cy="19050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EC49E-6C9B-FC52-FDB7-6253502AE155}"/>
              </a:ext>
            </a:extLst>
          </p:cNvPr>
          <p:cNvSpPr>
            <a:spLocks noGrp="1"/>
          </p:cNvSpPr>
          <p:nvPr/>
        </p:nvSpPr>
        <p:spPr>
          <a:xfrm>
            <a:off x="5953125" y="36576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E76F51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75" b="1">
                <a:solidFill>
                  <a:srgbClr val="E76F51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75" b="1">
                <a:solidFill>
                  <a:srgbClr val="E76F51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75" b="1">
                <a:solidFill>
                  <a:srgbClr val="E76F51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75" b="1">
                <a:solidFill>
                  <a:srgbClr val="E76F51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75" b="1">
                <a:solidFill>
                  <a:srgbClr val="E76F51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75" b="1">
                <a:solidFill>
                  <a:srgbClr val="E76F51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75" b="1">
                <a:solidFill>
                  <a:srgbClr val="E76F51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75" b="1">
                <a:solidFill>
                  <a:srgbClr val="E76F51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75" b="1">
                <a:solidFill>
                  <a:srgbClr val="E76F51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75" b="1">
                <a:solidFill>
                  <a:srgbClr val="E76F51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E76F51"/>
                </a:solidFill>
                <a:latin typeface="Consolas"/>
                <a:ea typeface="Consolas"/>
                <a:cs typeface="Consolas"/>
              </a:rPr>
              <a:t>multistate-union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2571C8-1562-9341-611B-3705C1875392}"/>
              </a:ext>
            </a:extLst>
          </p:cNvPr>
          <p:cNvSpPr>
            <a:spLocks noGrp="1"/>
          </p:cNvSpPr>
          <p:nvPr/>
        </p:nvSpPr>
        <p:spPr>
          <a:xfrm>
            <a:off x="5953125" y="4000500"/>
            <a:ext cx="500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611" lnSpcReduction="10000"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Attribute + Attribute_value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A6C527-33B4-B801-7F02-CB3FFEB6574F}"/>
              </a:ext>
            </a:extLst>
          </p:cNvPr>
          <p:cNvSpPr>
            <a:spLocks noGrp="1"/>
          </p:cNvSpPr>
          <p:nvPr/>
        </p:nvSpPr>
        <p:spPr>
          <a:xfrm>
            <a:off x="8763000" y="3657600"/>
            <a:ext cx="2714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Prepared and reassembled; no ASR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454CB4A-5F94-3477-7154-DB450EDB74F6}"/>
              </a:ext>
            </a:extLst>
          </p:cNvPr>
          <p:cNvSpPr>
            <a:spLocks noGrp="1"/>
          </p:cNvSpPr>
          <p:nvPr/>
        </p:nvSpPr>
        <p:spPr>
          <a:xfrm>
            <a:off x="5953125" y="4343400"/>
            <a:ext cx="5524500" cy="19050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95356B-5A54-A090-59A6-CD2972049B55}"/>
              </a:ext>
            </a:extLst>
          </p:cNvPr>
          <p:cNvSpPr>
            <a:spLocks noGrp="1"/>
          </p:cNvSpPr>
          <p:nvPr/>
        </p:nvSpPr>
        <p:spPr>
          <a:xfrm>
            <a:off x="5953125" y="45339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range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C0DD3E2-7A8E-9904-24B2-EBF278B5DFC1}"/>
              </a:ext>
            </a:extLst>
          </p:cNvPr>
          <p:cNvSpPr>
            <a:spLocks noGrp="1"/>
          </p:cNvSpPr>
          <p:nvPr/>
        </p:nvSpPr>
        <p:spPr>
          <a:xfrm>
            <a:off x="5953125" y="4876800"/>
            <a:ext cx="500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611" lnSpcReduction="10000"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Attribute_value_min + max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E7D490-B295-B26D-91E6-A0008ED5491C}"/>
              </a:ext>
            </a:extLst>
          </p:cNvPr>
          <p:cNvSpPr>
            <a:spLocks noGrp="1"/>
          </p:cNvSpPr>
          <p:nvPr/>
        </p:nvSpPr>
        <p:spPr>
          <a:xfrm>
            <a:off x="8763000" y="4533900"/>
            <a:ext cx="2714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Continuous ASR when coverage ≥ 1%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E95DBC9-BFFB-8BE8-27CD-AF8853F189E2}"/>
              </a:ext>
            </a:extLst>
          </p:cNvPr>
          <p:cNvSpPr>
            <a:spLocks noGrp="1"/>
          </p:cNvSpPr>
          <p:nvPr/>
        </p:nvSpPr>
        <p:spPr>
          <a:xfrm>
            <a:off x="5953125" y="5219700"/>
            <a:ext cx="5524500" cy="19050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0370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99AE8B-A82F-BF0A-6742-A7A2290404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030A0"/>
          </a:solidFill>
          <a:ln w="0">
            <a:solidFill>
              <a:srgbClr val="177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A57957-6DEA-5E51-3E3F-22F90B65506A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0896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ASR decisions and known caveats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048323-19B3-7CDE-765F-E62F14708C2D}"/>
              </a:ext>
            </a:extLst>
          </p:cNvPr>
          <p:cNvSpPr>
            <a:spLocks noGrp="1"/>
          </p:cNvSpPr>
          <p:nvPr/>
        </p:nvSpPr>
        <p:spPr>
          <a:xfrm>
            <a:off x="647700" y="1104900"/>
            <a:ext cx="10896600" cy="19050"/>
          </a:xfrm>
          <a:prstGeom prst="rect">
            <a:avLst/>
          </a:prstGeom>
          <a:solidFill>
            <a:srgbClr val="E9E5DC"/>
          </a:solidFill>
          <a:ln w="0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FC7F43-2973-DAF0-230E-34BE5188CD2F}"/>
              </a:ext>
            </a:extLst>
          </p:cNvPr>
          <p:cNvSpPr>
            <a:spLocks noGrp="1"/>
          </p:cNvSpPr>
          <p:nvPr/>
        </p:nvSpPr>
        <p:spPr>
          <a:xfrm>
            <a:off x="647700" y="14668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1% coverage threshold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F358A4-4CCF-490F-6203-BE9B28761C2C}"/>
              </a:ext>
            </a:extLst>
          </p:cNvPr>
          <p:cNvSpPr>
            <a:spLocks noGrp="1"/>
          </p:cNvSpPr>
          <p:nvPr/>
        </p:nvSpPr>
        <p:spPr>
          <a:xfrm>
            <a:off x="647700" y="182880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Traits below the threshold retain curated observations and skip ASR.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E3A381-227A-53B7-E56B-A49363AB071C}"/>
              </a:ext>
            </a:extLst>
          </p:cNvPr>
          <p:cNvSpPr>
            <a:spLocks noGrp="1"/>
          </p:cNvSpPr>
          <p:nvPr/>
        </p:nvSpPr>
        <p:spPr>
          <a:xfrm>
            <a:off x="647700" y="2562225"/>
            <a:ext cx="4762500" cy="28575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2B1DD6-F418-3A23-774F-CC9DD9710E48}"/>
              </a:ext>
            </a:extLst>
          </p:cNvPr>
          <p:cNvSpPr>
            <a:spLocks noGrp="1"/>
          </p:cNvSpPr>
          <p:nvPr/>
        </p:nvSpPr>
        <p:spPr>
          <a:xfrm>
            <a:off x="6238875" y="14668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Union traits bypass ASR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38B4CA-FA10-7FCF-DC34-303DC8CAC1BD}"/>
              </a:ext>
            </a:extLst>
          </p:cNvPr>
          <p:cNvSpPr>
            <a:spLocks noGrp="1"/>
          </p:cNvSpPr>
          <p:nvPr/>
        </p:nvSpPr>
        <p:spPr>
          <a:xfrm>
            <a:off x="6238875" y="182880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Habitat, disease, and resistance categories are reassembled from prepared observations.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67F981-F355-0453-32A8-BD944FCE9A46}"/>
              </a:ext>
            </a:extLst>
          </p:cNvPr>
          <p:cNvSpPr>
            <a:spLocks noGrp="1"/>
          </p:cNvSpPr>
          <p:nvPr/>
        </p:nvSpPr>
        <p:spPr>
          <a:xfrm>
            <a:off x="6238875" y="2562225"/>
            <a:ext cx="4762500" cy="28575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985703-3524-039E-63F6-3E7411727A65}"/>
              </a:ext>
            </a:extLst>
          </p:cNvPr>
          <p:cNvSpPr>
            <a:spLocks noGrp="1"/>
          </p:cNvSpPr>
          <p:nvPr/>
        </p:nvSpPr>
        <p:spPr>
          <a:xfrm>
            <a:off x="647700" y="28194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>
            <a:def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Vocabulary is strict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F71E6E-3C19-2ED2-C642-6A5F217C2386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Unknown terms are dropped and reported for mapping or source-data correction.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98A35F-BFEC-BFC1-41A3-C92EFB8FE168}"/>
              </a:ext>
            </a:extLst>
          </p:cNvPr>
          <p:cNvSpPr>
            <a:spLocks noGrp="1"/>
          </p:cNvSpPr>
          <p:nvPr/>
        </p:nvSpPr>
        <p:spPr>
          <a:xfrm>
            <a:off x="647700" y="3914775"/>
            <a:ext cx="4762500" cy="28575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84AD72-3840-748E-37A2-FD720745AFEC}"/>
              </a:ext>
            </a:extLst>
          </p:cNvPr>
          <p:cNvSpPr>
            <a:spLocks noGrp="1"/>
          </p:cNvSpPr>
          <p:nvPr/>
        </p:nvSpPr>
        <p:spPr>
          <a:xfrm>
            <a:off x="6238875" y="28194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Probabilities are clipped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05AFE1-AC35-428F-C006-7079737E872B}"/>
              </a:ext>
            </a:extLst>
          </p:cNvPr>
          <p:cNvSpPr>
            <a:spLocks noGrp="1"/>
          </p:cNvSpPr>
          <p:nvPr/>
        </p:nvSpPr>
        <p:spPr>
          <a:xfrm>
            <a:off x="6238875" y="318135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Tiny floating-point overshoots near 0 or 1 are clipped before frequency labels.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BE5EE7-FB93-8E49-9A45-67281003C5A1}"/>
              </a:ext>
            </a:extLst>
          </p:cNvPr>
          <p:cNvSpPr>
            <a:spLocks noGrp="1"/>
          </p:cNvSpPr>
          <p:nvPr/>
        </p:nvSpPr>
        <p:spPr>
          <a:xfrm>
            <a:off x="6238875" y="3914775"/>
            <a:ext cx="4762500" cy="28575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0591FDF-66BF-FB37-6520-F7532CA16C9F}"/>
              </a:ext>
            </a:extLst>
          </p:cNvPr>
          <p:cNvSpPr>
            <a:spLocks noGrp="1"/>
          </p:cNvSpPr>
          <p:nvPr/>
        </p:nvSpPr>
        <p:spPr>
          <a:xfrm>
            <a:off x="647700" y="41719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 exports can be stale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FAEAF38-C852-6BA1-1310-086C20248CED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Prepared-table parity showed that some final differences came from old reference exports.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D5B222-D301-94B9-D5BC-5F5530765B5F}"/>
              </a:ext>
            </a:extLst>
          </p:cNvPr>
          <p:cNvSpPr>
            <a:spLocks noGrp="1"/>
          </p:cNvSpPr>
          <p:nvPr/>
        </p:nvSpPr>
        <p:spPr>
          <a:xfrm>
            <a:off x="647700" y="5267325"/>
            <a:ext cx="4762500" cy="28575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2D62B12-F98D-C536-8FAF-A962D8B691AB}"/>
              </a:ext>
            </a:extLst>
          </p:cNvPr>
          <p:cNvSpPr>
            <a:spLocks noGrp="1"/>
          </p:cNvSpPr>
          <p:nvPr/>
        </p:nvSpPr>
        <p:spPr>
          <a:xfrm>
            <a:off x="6238875" y="41719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>
            <a:def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Boundary labels can differ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8A3E27-667D-199F-4DBF-C3803D456411}"/>
              </a:ext>
            </a:extLst>
          </p:cNvPr>
          <p:cNvSpPr>
            <a:spLocks noGrp="1"/>
          </p:cNvSpPr>
          <p:nvPr/>
        </p:nvSpPr>
        <p:spPr>
          <a:xfrm>
            <a:off x="6238875" y="453390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R and Python may assign different labels near exact cutoffs while scores remain equivalent.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24A458-3A88-0025-20AA-DBD8E8521018}"/>
              </a:ext>
            </a:extLst>
          </p:cNvPr>
          <p:cNvSpPr>
            <a:spLocks noGrp="1"/>
          </p:cNvSpPr>
          <p:nvPr/>
        </p:nvSpPr>
        <p:spPr>
          <a:xfrm>
            <a:off x="6238875" y="5267325"/>
            <a:ext cx="4762500" cy="28575"/>
          </a:xfrm>
          <a:prstGeom prst="rect">
            <a:avLst/>
          </a:prstGeom>
          <a:solidFill>
            <a:srgbClr val="7030A0"/>
          </a:solidFill>
          <a:ln w="0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662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A7B0F-D260-0AE6-DDA6-7FBA2167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60638D3-1387-2BBF-694D-D95E281FAC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030A0"/>
          </a:solidFill>
          <a:ln w="0">
            <a:solidFill>
              <a:srgbClr val="177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E4FDB9-B679-4BF5-248A-F8FAF59AC79A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0896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Diagnostic checkpoint scripts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E2582D-71B3-7732-9A3B-C403A40EBC71}"/>
              </a:ext>
            </a:extLst>
          </p:cNvPr>
          <p:cNvSpPr>
            <a:spLocks noGrp="1"/>
          </p:cNvSpPr>
          <p:nvPr/>
        </p:nvSpPr>
        <p:spPr>
          <a:xfrm>
            <a:off x="647700" y="1104900"/>
            <a:ext cx="10896600" cy="19050"/>
          </a:xfrm>
          <a:prstGeom prst="rect">
            <a:avLst/>
          </a:prstGeom>
          <a:solidFill>
            <a:srgbClr val="E9E5DC"/>
          </a:solidFill>
          <a:ln w="0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87E299-A370-3B6E-042D-47B925A0E225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generate_live_filtering_checkpoints.py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FD39D2-C495-C328-B323-65C0D74B431B}"/>
              </a:ext>
            </a:extLst>
          </p:cNvPr>
          <p:cNvSpPr>
            <a:spLocks noGrp="1"/>
          </p:cNvSpPr>
          <p:nvPr/>
        </p:nvSpPr>
        <p:spPr>
          <a:xfrm>
            <a:off x="4857750" y="1476375"/>
            <a:ext cx="314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Reads live Google Sheets and BacDive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EADCFD-24E9-94E9-140C-B5CFEBD93D73}"/>
              </a:ext>
            </a:extLst>
          </p:cNvPr>
          <p:cNvSpPr>
            <a:spLocks noGrp="1"/>
          </p:cNvSpPr>
          <p:nvPr/>
        </p:nvSpPr>
        <p:spPr>
          <a:xfrm>
            <a:off x="8334375" y="1476375"/>
            <a:ext cx="3095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7030A0"/>
                </a:solidFill>
                <a:latin typeface="Arial"/>
                <a:ea typeface="Arial"/>
                <a:cs typeface="Arial"/>
              </a:rPr>
              <a:t>Writes 00_raw and 01_filtered per trait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B2ACAC-89AF-671B-56A7-F3F39CD30D6C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10896600" cy="19050"/>
          </a:xfrm>
          <a:prstGeom prst="rect">
            <a:avLst/>
          </a:prstGeom>
          <a:solidFill>
            <a:srgbClr val="E9E5DC"/>
          </a:solidFill>
          <a:ln w="0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359606-EB0A-2A9F-09FA-E1C351F2FD06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generate_python_filtering_checkpoints.py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21062E-4A98-747E-617F-3D9BFD2453A4}"/>
              </a:ext>
            </a:extLst>
          </p:cNvPr>
          <p:cNvSpPr>
            <a:spLocks noGrp="1"/>
          </p:cNvSpPr>
          <p:nvPr/>
        </p:nvSpPr>
        <p:spPr>
          <a:xfrm>
            <a:off x="4857750" y="2476500"/>
            <a:ext cx="314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Reads frozen 00_raw.tsv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BE03A4-A2C8-1C01-D36F-E7411AF5861F}"/>
              </a:ext>
            </a:extLst>
          </p:cNvPr>
          <p:cNvSpPr>
            <a:spLocks noGrp="1"/>
          </p:cNvSpPr>
          <p:nvPr/>
        </p:nvSpPr>
        <p:spPr>
          <a:xfrm>
            <a:off x="8334375" y="2476500"/>
            <a:ext cx="3095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Writes a separate Python 01_filtered.tsv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664D08-A759-E2AF-3FDB-A51E971E836C}"/>
              </a:ext>
            </a:extLst>
          </p:cNvPr>
          <p:cNvSpPr>
            <a:spLocks noGrp="1"/>
          </p:cNvSpPr>
          <p:nvPr/>
        </p:nvSpPr>
        <p:spPr>
          <a:xfrm>
            <a:off x="647700" y="3095625"/>
            <a:ext cx="10896600" cy="19050"/>
          </a:xfrm>
          <a:prstGeom prst="rect">
            <a:avLst/>
          </a:prstGeom>
          <a:solidFill>
            <a:srgbClr val="E9E5DC"/>
          </a:solidFill>
          <a:ln w="0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15A92E-029D-0952-272E-07E515646555}"/>
              </a:ext>
            </a:extLst>
          </p:cNvPr>
          <p:cNvSpPr>
            <a:spLocks noGrp="1"/>
          </p:cNvSpPr>
          <p:nvPr/>
        </p:nvSpPr>
        <p:spPr>
          <a:xfrm>
            <a:off x="647700" y="3476625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generate_python_preprocessing_checkpoints.py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602ADB7-0B9D-BF40-1846-48C901E4507A}"/>
              </a:ext>
            </a:extLst>
          </p:cNvPr>
          <p:cNvSpPr>
            <a:spLocks noGrp="1"/>
          </p:cNvSpPr>
          <p:nvPr/>
        </p:nvSpPr>
        <p:spPr>
          <a:xfrm>
            <a:off x="4857750" y="3476625"/>
            <a:ext cx="314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Reads frozen 01_filtered.tsv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64AE779-AE36-4EF9-AA00-A1721C4B55F9}"/>
              </a:ext>
            </a:extLst>
          </p:cNvPr>
          <p:cNvSpPr>
            <a:spLocks noGrp="1"/>
          </p:cNvSpPr>
          <p:nvPr/>
        </p:nvSpPr>
        <p:spPr>
          <a:xfrm>
            <a:off x="8334375" y="3476625"/>
            <a:ext cx="3095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7030A0"/>
                </a:solidFill>
                <a:latin typeface="Arial"/>
                <a:ea typeface="Arial"/>
                <a:cs typeface="Arial"/>
              </a:rPr>
              <a:t>Writes stages 02 through 05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12177AF-C90B-E7AF-236F-B79942981CF6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10896600" cy="19050"/>
          </a:xfrm>
          <a:prstGeom prst="rect">
            <a:avLst/>
          </a:prstGeom>
          <a:solidFill>
            <a:srgbClr val="E9E5DC"/>
          </a:solidFill>
          <a:ln w="0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EC19B94-9735-4BF5-64FE-C1B5FE6AAA39}"/>
              </a:ext>
            </a:extLst>
          </p:cNvPr>
          <p:cNvSpPr>
            <a:spLocks noGrp="1"/>
          </p:cNvSpPr>
          <p:nvPr/>
        </p:nvSpPr>
        <p:spPr>
          <a:xfrm>
            <a:off x="647700" y="4476750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00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generate_python_asr_checkpoints.py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B63F2F8-738E-E322-021E-83A22A746965}"/>
              </a:ext>
            </a:extLst>
          </p:cNvPr>
          <p:cNvSpPr>
            <a:spLocks noGrp="1"/>
          </p:cNvSpPr>
          <p:nvPr/>
        </p:nvSpPr>
        <p:spPr>
          <a:xfrm>
            <a:off x="4857750" y="4476750"/>
            <a:ext cx="314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Reads a Python 05_prepared.tsv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C903151-1066-81D4-9279-2FDEE58E700F}"/>
              </a:ext>
            </a:extLst>
          </p:cNvPr>
          <p:cNvSpPr>
            <a:spLocks noGrp="1"/>
          </p:cNvSpPr>
          <p:nvPr/>
        </p:nvSpPr>
        <p:spPr>
          <a:xfrm>
            <a:off x="8334375" y="4476750"/>
            <a:ext cx="3095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Writes discrete ASR checkpoints for diagnosis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1B33EDC-9FCF-3212-421E-31524A03AB78}"/>
              </a:ext>
            </a:extLst>
          </p:cNvPr>
          <p:cNvSpPr>
            <a:spLocks noGrp="1"/>
          </p:cNvSpPr>
          <p:nvPr/>
        </p:nvSpPr>
        <p:spPr>
          <a:xfrm>
            <a:off x="647700" y="5095875"/>
            <a:ext cx="10896600" cy="19050"/>
          </a:xfrm>
          <a:prstGeom prst="rect">
            <a:avLst/>
          </a:prstGeom>
          <a:solidFill>
            <a:srgbClr val="E9E5DC"/>
          </a:solidFill>
          <a:ln w="0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7651D4F-9192-8DDA-59A5-D4BC6AF2D4EE}"/>
              </a:ext>
            </a:extLst>
          </p:cNvPr>
          <p:cNvSpPr>
            <a:spLocks noGrp="1"/>
          </p:cNvSpPr>
          <p:nvPr/>
        </p:nvSpPr>
        <p:spPr>
          <a:xfrm>
            <a:off x="647700" y="5619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368" lnSpcReduction="10000"/>
          </a:bodyPr>
          <a:lstStyle>
            <a:defPPr>
              <a:defRPr sz="14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4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7030A0"/>
                </a:solidFill>
                <a:latin typeface="Arial"/>
                <a:ea typeface="Arial"/>
                <a:cs typeface="Arial"/>
              </a:rPr>
              <a:t>These are reproducibility tools, not </a:t>
            </a:r>
            <a:r>
              <a:rPr sz="1425" b="1" dirty="0" err="1">
                <a:solidFill>
                  <a:srgbClr val="7030A0"/>
                </a:solidFill>
                <a:latin typeface="Arial"/>
                <a:ea typeface="Arial"/>
                <a:cs typeface="Arial"/>
              </a:rPr>
              <a:t>pytest</a:t>
            </a:r>
            <a:r>
              <a:rPr sz="1425" b="1" dirty="0">
                <a:solidFill>
                  <a:srgbClr val="7030A0"/>
                </a:solidFill>
                <a:latin typeface="Arial"/>
                <a:ea typeface="Arial"/>
                <a:cs typeface="Arial"/>
              </a:rPr>
              <a:t> assertions. They preserve the frozen R directories and write provenance metadata.</a:t>
            </a:r>
          </a:p>
        </p:txBody>
      </p:sp>
    </p:spTree>
    <p:extLst>
      <p:ext uri="{BB962C8B-B14F-4D97-AF65-F5344CB8AC3E}">
        <p14:creationId xmlns:p14="http://schemas.microsoft.com/office/powerpoint/2010/main" val="1783844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B8277-E8BF-6AB0-F6FE-02C6CB412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30F149-B523-640C-B3CB-5657BA7EA7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030A0"/>
          </a:solidFill>
          <a:ln w="0">
            <a:solidFill>
              <a:srgbClr val="177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4293AD-AA61-0DCA-DCEF-7A922E0E52CD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0896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Parity and smoke tests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21E0CB-5F46-BC4A-7CBB-428ACE8679BD}"/>
              </a:ext>
            </a:extLst>
          </p:cNvPr>
          <p:cNvSpPr>
            <a:spLocks noGrp="1"/>
          </p:cNvSpPr>
          <p:nvPr/>
        </p:nvSpPr>
        <p:spPr>
          <a:xfrm>
            <a:off x="647700" y="1104900"/>
            <a:ext cx="10896600" cy="19050"/>
          </a:xfrm>
          <a:prstGeom prst="rect">
            <a:avLst/>
          </a:prstGeom>
          <a:solidFill>
            <a:srgbClr val="E9E5DC"/>
          </a:solidFill>
          <a:ln w="0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605675-DA80-E620-4BC8-743FE354DA69}"/>
              </a:ext>
            </a:extLst>
          </p:cNvPr>
          <p:cNvSpPr>
            <a:spLocks noGrp="1"/>
          </p:cNvSpPr>
          <p:nvPr/>
        </p:nvSpPr>
        <p:spPr>
          <a:xfrm>
            <a:off x="647700" y="1428750"/>
            <a:ext cx="10896600" cy="914400"/>
          </a:xfrm>
          <a:prstGeom prst="roundRect">
            <a:avLst>
              <a:gd name="adj" fmla="val 8333"/>
            </a:avLst>
          </a:prstGeom>
          <a:solidFill>
            <a:srgbClr val="FFFDF8"/>
          </a:solidFill>
          <a:ln w="9525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1F2C6F-9F05-C123-0B17-F7E18CC83DFF}"/>
              </a:ext>
            </a:extLst>
          </p:cNvPr>
          <p:cNvSpPr>
            <a:spLocks noGrp="1"/>
          </p:cNvSpPr>
          <p:nvPr/>
        </p:nvSpPr>
        <p:spPr>
          <a:xfrm>
            <a:off x="857250" y="160020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test_taxonomy_sets.py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1D4C07-62F4-8073-BF47-49833C10EAE0}"/>
              </a:ext>
            </a:extLst>
          </p:cNvPr>
          <p:cNvSpPr>
            <a:spLocks noGrp="1"/>
          </p:cNvSpPr>
          <p:nvPr/>
        </p:nvSpPr>
        <p:spPr>
          <a:xfrm>
            <a:off x="4667250" y="156210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Compares direct-ID, parent-ID, combined, and prepared stages against frozen R outputs.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A8D9BF1-AE25-BBFE-C371-0D55B511F1E2}"/>
              </a:ext>
            </a:extLst>
          </p:cNvPr>
          <p:cNvSpPr>
            <a:spLocks noGrp="1"/>
          </p:cNvSpPr>
          <p:nvPr/>
        </p:nvSpPr>
        <p:spPr>
          <a:xfrm>
            <a:off x="647700" y="2495550"/>
            <a:ext cx="10896600" cy="914400"/>
          </a:xfrm>
          <a:prstGeom prst="roundRect">
            <a:avLst>
              <a:gd name="adj" fmla="val 8333"/>
            </a:avLst>
          </a:prstGeom>
          <a:solidFill>
            <a:srgbClr val="EAF3F2"/>
          </a:solidFill>
          <a:ln w="9525">
            <a:solidFill>
              <a:srgbClr val="B9D9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504B0A-23E7-6652-2551-F3BD53FA962C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test_discrete_asr_parity.py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408DE2-2717-D612-19F1-4623DCA8127E}"/>
              </a:ext>
            </a:extLst>
          </p:cNvPr>
          <p:cNvSpPr>
            <a:spLocks noGrp="1"/>
          </p:cNvSpPr>
          <p:nvPr/>
        </p:nvSpPr>
        <p:spPr>
          <a:xfrm>
            <a:off x="4667250" y="262890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Runs motility and shape from prepared input through the fitted Mk model and final table.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8F44C04-AE36-3F88-0F84-69C0650E0F26}"/>
              </a:ext>
            </a:extLst>
          </p:cNvPr>
          <p:cNvSpPr>
            <a:spLocks noGrp="1"/>
          </p:cNvSpPr>
          <p:nvPr/>
        </p:nvSpPr>
        <p:spPr>
          <a:xfrm>
            <a:off x="647700" y="3562350"/>
            <a:ext cx="10896600" cy="914400"/>
          </a:xfrm>
          <a:prstGeom prst="roundRect">
            <a:avLst>
              <a:gd name="adj" fmla="val 8333"/>
            </a:avLst>
          </a:prstGeom>
          <a:solidFill>
            <a:srgbClr val="FFFDF8"/>
          </a:solidFill>
          <a:ln w="9525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CD66D1-DFB6-957D-5E11-A7B9D8B61C8E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test_continuous_asr_parity.py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21DC4DF-5A95-2357-35B5-80C3737A3C38}"/>
              </a:ext>
            </a:extLst>
          </p:cNvPr>
          <p:cNvSpPr>
            <a:spLocks noGrp="1"/>
          </p:cNvSpPr>
          <p:nvPr/>
        </p:nvSpPr>
        <p:spPr>
          <a:xfrm>
            <a:off x="4667250" y="369570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Runs growth temperature through reconstruction, NSTI, mapping, and final output.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4C645C6-505A-5D08-EE81-571857399B26}"/>
              </a:ext>
            </a:extLst>
          </p:cNvPr>
          <p:cNvSpPr>
            <a:spLocks noGrp="1"/>
          </p:cNvSpPr>
          <p:nvPr/>
        </p:nvSpPr>
        <p:spPr>
          <a:xfrm>
            <a:off x="647700" y="4629150"/>
            <a:ext cx="10896600" cy="914400"/>
          </a:xfrm>
          <a:prstGeom prst="roundRect">
            <a:avLst>
              <a:gd name="adj" fmla="val 8333"/>
            </a:avLst>
          </a:prstGeom>
          <a:solidFill>
            <a:srgbClr val="EAF3F2"/>
          </a:solidFill>
          <a:ln w="9525">
            <a:solidFill>
              <a:srgbClr val="B9D9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AE719D7-E3D1-B332-EC17-85A25B6554EC}"/>
              </a:ext>
            </a:extLst>
          </p:cNvPr>
          <p:cNvSpPr>
            <a:spLocks noGrp="1"/>
          </p:cNvSpPr>
          <p:nvPr/>
        </p:nvSpPr>
        <p:spPr>
          <a:xfrm>
            <a:off x="857250" y="480060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275" b="1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test_asr_orchestrator.py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FC994F-239C-50B3-CB3A-49C5787E7535}"/>
              </a:ext>
            </a:extLst>
          </p:cNvPr>
          <p:cNvSpPr>
            <a:spLocks noGrp="1"/>
          </p:cNvSpPr>
          <p:nvPr/>
        </p:nvSpPr>
        <p:spPr>
          <a:xfrm>
            <a:off x="4667250" y="476250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Uses small synthetic raw tables to smoke-test all trait types, CSV output, and GMT output.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75F591A-9CBA-37BD-847B-BD73BCC905C2}"/>
              </a:ext>
            </a:extLst>
          </p:cNvPr>
          <p:cNvSpPr>
            <a:spLocks noGrp="1"/>
          </p:cNvSpPr>
          <p:nvPr/>
        </p:nvSpPr>
        <p:spPr>
          <a:xfrm>
            <a:off x="647700" y="5715000"/>
            <a:ext cx="7429500" cy="819150"/>
          </a:xfrm>
          <a:prstGeom prst="roundRect">
            <a:avLst>
              <a:gd name="adj" fmla="val 9302"/>
            </a:avLst>
          </a:prstGeom>
          <a:solidFill>
            <a:srgbClr val="102638"/>
          </a:solidFill>
          <a:ln w="9525">
            <a:solidFill>
              <a:srgbClr val="1026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227707-1A5A-773E-E77A-77D8764D3FE1}"/>
              </a:ext>
            </a:extLst>
          </p:cNvPr>
          <p:cNvSpPr>
            <a:spLocks noGrp="1"/>
          </p:cNvSpPr>
          <p:nvPr/>
        </p:nvSpPr>
        <p:spPr>
          <a:xfrm>
            <a:off x="819150" y="5848350"/>
            <a:ext cx="7086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64" lnSpcReduction="10000"/>
          </a:bodyPr>
          <a:lstStyle>
            <a:defPPr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CF3F4"/>
                </a:solidFill>
                <a:latin typeface="Consolas"/>
                <a:ea typeface="Consolas"/>
                <a:cs typeface="Consolas"/>
              </a:rPr>
              <a:t>python -m pytest tests/test_taxonomy_sets.py -v</a:t>
            </a:r>
          </a:p>
          <a:p>
            <a: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CF3F4"/>
                </a:solidFill>
                <a:latin typeface="Consolas"/>
                <a:ea typeface="Consolas"/>
                <a:cs typeface="Consolas"/>
              </a:rPr>
              <a:t>python -m pytest tests/test_discrete_asr_parity.py -v</a:t>
            </a:r>
          </a:p>
          <a:p>
            <a: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CF3F4"/>
                </a:solidFill>
                <a:latin typeface="Consolas"/>
                <a:ea typeface="Consolas"/>
                <a:cs typeface="Consolas"/>
              </a:rPr>
              <a:t>python -m pytest tests/test_continuous_asr_parity.py -v</a:t>
            </a:r>
          </a:p>
          <a:p>
            <a:pPr>
              <a:buNone/>
              <a:defRPr sz="975" b="0">
                <a:solidFill>
                  <a:srgbClr val="ECF3F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CF3F4"/>
                </a:solidFill>
                <a:latin typeface="Consolas"/>
                <a:ea typeface="Consolas"/>
                <a:cs typeface="Consolas"/>
              </a:rPr>
              <a:t>python -m pytest tests/test_asr_orchestrator.py -v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1CD4E87-9868-0909-E35C-64E1F0B3A212}"/>
              </a:ext>
            </a:extLst>
          </p:cNvPr>
          <p:cNvSpPr>
            <a:spLocks noGrp="1"/>
          </p:cNvSpPr>
          <p:nvPr/>
        </p:nvSpPr>
        <p:spPr>
          <a:xfrm>
            <a:off x="8382000" y="579120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Install the dev extras and Biopython in the test environment before running the suite.</a:t>
            </a:r>
          </a:p>
        </p:txBody>
      </p:sp>
    </p:spTree>
    <p:extLst>
      <p:ext uri="{BB962C8B-B14F-4D97-AF65-F5344CB8AC3E}">
        <p14:creationId xmlns:p14="http://schemas.microsoft.com/office/powerpoint/2010/main" val="536960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F6166-BD17-EB19-CC9E-1CDA2F434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987BE-17BC-785E-82B9-B23C7A7018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7E89"/>
          </a:solidFill>
          <a:ln w="0">
            <a:solidFill>
              <a:srgbClr val="177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F7F99B-E9ED-28D9-D4A2-86085BECAF82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0896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Discrete ASR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C3EEA1-654D-7FC3-C407-481B6484AB19}"/>
              </a:ext>
            </a:extLst>
          </p:cNvPr>
          <p:cNvSpPr>
            <a:spLocks noGrp="1"/>
          </p:cNvSpPr>
          <p:nvPr/>
        </p:nvSpPr>
        <p:spPr>
          <a:xfrm>
            <a:off x="647700" y="1104900"/>
            <a:ext cx="10896600" cy="19050"/>
          </a:xfrm>
          <a:prstGeom prst="rect">
            <a:avLst/>
          </a:prstGeom>
          <a:solidFill>
            <a:srgbClr val="E9E5DC"/>
          </a:solidFill>
          <a:ln w="0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4B16D2-2D80-AB6C-28ED-2440A6A626DC}"/>
              </a:ext>
            </a:extLst>
          </p:cNvPr>
          <p:cNvSpPr>
            <a:spLocks noGrp="1"/>
          </p:cNvSpPr>
          <p:nvPr/>
        </p:nvSpPr>
        <p:spPr>
          <a:xfrm>
            <a:off x="647700" y="1333500"/>
            <a:ext cx="838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Binary and multistate-intersection traits use an equal-rates Mk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C73FD3-36DD-AC6E-A74E-00C4E0551456}"/>
              </a:ext>
            </a:extLst>
          </p:cNvPr>
          <p:cNvSpPr>
            <a:spLocks noGrp="1"/>
          </p:cNvSpPr>
          <p:nvPr/>
        </p:nvSpPr>
        <p:spPr>
          <a:xfrm>
            <a:off x="647700" y="2000250"/>
            <a:ext cx="400050" cy="400050"/>
          </a:xfrm>
          <a:prstGeom prst="rect">
            <a:avLst/>
          </a:prstGeom>
          <a:solidFill>
            <a:srgbClr val="177E89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6AD901-FFCE-E4DD-CAC0-FC0B185A8E1E}"/>
              </a:ext>
            </a:extLst>
          </p:cNvPr>
          <p:cNvSpPr>
            <a:spLocks noGrp="1"/>
          </p:cNvSpPr>
          <p:nvPr/>
        </p:nvSpPr>
        <p:spPr>
          <a:xfrm>
            <a:off x="1181100" y="1971675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10000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Tree-tip likelihood matrix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DCFD47-93E0-F7B1-3B8C-6B5433CF726D}"/>
              </a:ext>
            </a:extLst>
          </p:cNvPr>
          <p:cNvSpPr>
            <a:spLocks noGrp="1"/>
          </p:cNvSpPr>
          <p:nvPr/>
        </p:nvSpPr>
        <p:spPr>
          <a:xfrm>
            <a:off x="1181100" y="2257425"/>
            <a:ext cx="4133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Observed state scores; uniform probabilities for hidden tips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A99523-B723-E584-6BBD-785D24BBB765}"/>
              </a:ext>
            </a:extLst>
          </p:cNvPr>
          <p:cNvSpPr>
            <a:spLocks noGrp="1"/>
          </p:cNvSpPr>
          <p:nvPr/>
        </p:nvSpPr>
        <p:spPr>
          <a:xfrm>
            <a:off x="647700" y="2952750"/>
            <a:ext cx="400050" cy="40005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CB4193-7D81-87FF-7DF9-552EDC79B5FD}"/>
              </a:ext>
            </a:extLst>
          </p:cNvPr>
          <p:cNvSpPr>
            <a:spLocks noGrp="1"/>
          </p:cNvSpPr>
          <p:nvPr/>
        </p:nvSpPr>
        <p:spPr>
          <a:xfrm>
            <a:off x="1181100" y="2924175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10000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fitMk equivalent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FD32F69-3605-A7A2-2F50-ACAA4D384779}"/>
              </a:ext>
            </a:extLst>
          </p:cNvPr>
          <p:cNvSpPr>
            <a:spLocks noGrp="1"/>
          </p:cNvSpPr>
          <p:nvPr/>
        </p:nvSpPr>
        <p:spPr>
          <a:xfrm>
            <a:off x="1181100" y="3209925"/>
            <a:ext cx="4133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Equal-rates model, equal root prior, optimized transition rate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59853EA-AA1E-7FED-BD4A-20F757BD6303}"/>
              </a:ext>
            </a:extLst>
          </p:cNvPr>
          <p:cNvSpPr>
            <a:spLocks noGrp="1"/>
          </p:cNvSpPr>
          <p:nvPr/>
        </p:nvSpPr>
        <p:spPr>
          <a:xfrm>
            <a:off x="647700" y="3905250"/>
            <a:ext cx="400050" cy="400050"/>
          </a:xfrm>
          <a:prstGeom prst="rect">
            <a:avLst/>
          </a:prstGeom>
          <a:solidFill>
            <a:srgbClr val="177E89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6740B8-D2E7-01DF-E170-7304ACB85387}"/>
              </a:ext>
            </a:extLst>
          </p:cNvPr>
          <p:cNvSpPr>
            <a:spLocks noGrp="1"/>
          </p:cNvSpPr>
          <p:nvPr/>
        </p:nvSpPr>
        <p:spPr>
          <a:xfrm>
            <a:off x="1181100" y="3876675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10000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Global marginal reconstruction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493011-5BB7-8FDB-C9B4-7C46C7A586F5}"/>
              </a:ext>
            </a:extLst>
          </p:cNvPr>
          <p:cNvSpPr>
            <a:spLocks noGrp="1"/>
          </p:cNvSpPr>
          <p:nvPr/>
        </p:nvSpPr>
        <p:spPr>
          <a:xfrm>
            <a:off x="1181100" y="4162425"/>
            <a:ext cx="4133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Tip and internal-node state probabilities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FAD72C-280D-755E-614A-5C69426CF871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400050" cy="40005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36F6877-8C69-0459-1E0B-CD706BBC181B}"/>
              </a:ext>
            </a:extLst>
          </p:cNvPr>
          <p:cNvSpPr>
            <a:spLocks noGrp="1"/>
          </p:cNvSpPr>
          <p:nvPr/>
        </p:nvSpPr>
        <p:spPr>
          <a:xfrm>
            <a:off x="1181100" y="4829175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10000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Taxonomy mapping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2FE202B-5B8C-8B7D-A8F5-CF75C26A8936}"/>
              </a:ext>
            </a:extLst>
          </p:cNvPr>
          <p:cNvSpPr>
            <a:spLocks noGrp="1"/>
          </p:cNvSpPr>
          <p:nvPr/>
        </p:nvSpPr>
        <p:spPr>
          <a:xfrm>
            <a:off x="1181100" y="5114925"/>
            <a:ext cx="4133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5D6B73"/>
                </a:solidFill>
                <a:latin typeface="Arial"/>
                <a:ea typeface="Arial"/>
                <a:cs typeface="Arial"/>
              </a:rPr>
              <a:t>Remove observed taxa, deduplicate NCBI mappings, reshape long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A990650-0D6D-E004-4057-1C9D94C62B4D}"/>
              </a:ext>
            </a:extLst>
          </p:cNvPr>
          <p:cNvSpPr>
            <a:spLocks noGrp="1"/>
          </p:cNvSpPr>
          <p:nvPr/>
        </p:nvSpPr>
        <p:spPr>
          <a:xfrm>
            <a:off x="6429375" y="1790700"/>
            <a:ext cx="5095875" cy="3667125"/>
          </a:xfrm>
          <a:prstGeom prst="roundRect">
            <a:avLst>
              <a:gd name="adj" fmla="val 2078"/>
            </a:avLst>
          </a:prstGeom>
          <a:solidFill>
            <a:srgbClr val="EAF3F2"/>
          </a:solidFill>
          <a:ln w="9525">
            <a:solidFill>
              <a:srgbClr val="B9D9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D065479-2323-2FB2-F341-540833B3BA2E}"/>
              </a:ext>
            </a:extLst>
          </p:cNvPr>
          <p:cNvSpPr>
            <a:spLocks noGrp="1"/>
          </p:cNvSpPr>
          <p:nvPr/>
        </p:nvSpPr>
        <p:spPr>
          <a:xfrm>
            <a:off x="6715125" y="2047875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PARITY CHECKPOINTS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13F62D5-5563-C75A-09EE-25B66355F8F0}"/>
              </a:ext>
            </a:extLst>
          </p:cNvPr>
          <p:cNvSpPr>
            <a:spLocks noGrp="1"/>
          </p:cNvSpPr>
          <p:nvPr/>
        </p:nvSpPr>
        <p:spPr>
          <a:xfrm>
            <a:off x="6715125" y="2457450"/>
            <a:ext cx="4286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08  Tree-ordered input matrix</a:t>
            </a:r>
          </a:p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10–13  Fitted model</a:t>
            </a:r>
          </a:p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20  Marginal probabilities</a:t>
            </a:r>
          </a:p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22–25  Mapped predictions</a:t>
            </a:r>
          </a:p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27  Combined rows</a:t>
            </a:r>
          </a:p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99  Final propagated table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6EBD1D-34AD-8FAC-DEB0-7D7C3A4F9BF9}"/>
              </a:ext>
            </a:extLst>
          </p:cNvPr>
          <p:cNvSpPr>
            <a:spLocks noGrp="1"/>
          </p:cNvSpPr>
          <p:nvPr/>
        </p:nvSpPr>
        <p:spPr>
          <a:xfrm>
            <a:off x="6715125" y="4762500"/>
            <a:ext cx="428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0972" lnSpcReduction="10000"/>
          </a:bodyPr>
          <a:lstStyle>
            <a:defPPr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The end-to-end parity test uses the model fitted by Python. Optimizer differences therefore require probability tolerances near 10⁻⁶.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C321013-1644-27C2-1C44-6F4286B8BB42}"/>
              </a:ext>
            </a:extLst>
          </p:cNvPr>
          <p:cNvSpPr txBox="1"/>
          <p:nvPr/>
        </p:nvSpPr>
        <p:spPr>
          <a:xfrm>
            <a:off x="2823411" y="57591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45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A1C0C-7645-8D0B-6C84-8ADC769DF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2CE97B-0746-711B-680A-9304314E0C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7E89"/>
          </a:solidFill>
          <a:ln w="0">
            <a:solidFill>
              <a:srgbClr val="177E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DB1E72-60C5-FB27-7FDC-303F32885BD1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0896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Continuous ASR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22B957-83D1-C5BB-77D3-D0F8E5247256}"/>
              </a:ext>
            </a:extLst>
          </p:cNvPr>
          <p:cNvSpPr>
            <a:spLocks noGrp="1"/>
          </p:cNvSpPr>
          <p:nvPr/>
        </p:nvSpPr>
        <p:spPr>
          <a:xfrm>
            <a:off x="647700" y="1104900"/>
            <a:ext cx="10896600" cy="19050"/>
          </a:xfrm>
          <a:prstGeom prst="rect">
            <a:avLst/>
          </a:prstGeom>
          <a:solidFill>
            <a:srgbClr val="E9E5DC"/>
          </a:solidFill>
          <a:ln w="0">
            <a:solidFill>
              <a:srgbClr val="E9E5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500611-0983-B43C-11D5-337D1DF5E648}"/>
              </a:ext>
            </a:extLst>
          </p:cNvPr>
          <p:cNvSpPr>
            <a:spLocks noGrp="1"/>
          </p:cNvSpPr>
          <p:nvPr/>
        </p:nvSpPr>
        <p:spPr>
          <a:xfrm>
            <a:off x="647700" y="1333500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Range traits use squared-change parsimony and NSTI-based confidence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50C334-BE50-6768-954B-8C08323A22F3}"/>
              </a:ext>
            </a:extLst>
          </p:cNvPr>
          <p:cNvSpPr>
            <a:spLocks noGrp="1"/>
          </p:cNvSpPr>
          <p:nvPr/>
        </p:nvSpPr>
        <p:spPr>
          <a:xfrm>
            <a:off x="647700" y="2000250"/>
            <a:ext cx="400050" cy="400050"/>
          </a:xfrm>
          <a:prstGeom prst="rect">
            <a:avLst/>
          </a:prstGeom>
          <a:solidFill>
            <a:srgbClr val="177E89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18C221-2020-D1EF-CA89-2978F8BC0483}"/>
              </a:ext>
            </a:extLst>
          </p:cNvPr>
          <p:cNvSpPr>
            <a:spLocks noGrp="1"/>
          </p:cNvSpPr>
          <p:nvPr/>
        </p:nvSpPr>
        <p:spPr>
          <a:xfrm>
            <a:off x="1181100" y="1971675"/>
            <a:ext cx="422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10000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Observed tip values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36506C-2DE5-DCB3-0B7E-25A8456295B6}"/>
              </a:ext>
            </a:extLst>
          </p:cNvPr>
          <p:cNvSpPr>
            <a:spLocks noGrp="1"/>
          </p:cNvSpPr>
          <p:nvPr/>
        </p:nvSpPr>
        <p:spPr>
          <a:xfrm>
            <a:off x="1181100" y="2257425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Prepared ranges become one continuous value per mapped taxon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162039-848E-0CCA-E5B2-41F3E5C1D395}"/>
              </a:ext>
            </a:extLst>
          </p:cNvPr>
          <p:cNvSpPr>
            <a:spLocks noGrp="1"/>
          </p:cNvSpPr>
          <p:nvPr/>
        </p:nvSpPr>
        <p:spPr>
          <a:xfrm>
            <a:off x="647700" y="2952750"/>
            <a:ext cx="400050" cy="40005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789CE4-AEFD-5412-85FF-C67111B52349}"/>
              </a:ext>
            </a:extLst>
          </p:cNvPr>
          <p:cNvSpPr>
            <a:spLocks noGrp="1"/>
          </p:cNvSpPr>
          <p:nvPr/>
        </p:nvSpPr>
        <p:spPr>
          <a:xfrm>
            <a:off x="1181100" y="2924175"/>
            <a:ext cx="422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10000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Hidden-state prediction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BAE216-96F6-7DF7-2626-960895D06905}"/>
              </a:ext>
            </a:extLst>
          </p:cNvPr>
          <p:cNvSpPr>
            <a:spLocks noGrp="1"/>
          </p:cNvSpPr>
          <p:nvPr/>
        </p:nvSpPr>
        <p:spPr>
          <a:xfrm>
            <a:off x="1181100" y="3209925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Weighted squared-change parsimony reconstructs tips and nodes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EC8BCE-8BFA-34EA-D50D-6035E2845332}"/>
              </a:ext>
            </a:extLst>
          </p:cNvPr>
          <p:cNvSpPr>
            <a:spLocks noGrp="1"/>
          </p:cNvSpPr>
          <p:nvPr/>
        </p:nvSpPr>
        <p:spPr>
          <a:xfrm>
            <a:off x="647700" y="3905250"/>
            <a:ext cx="400050" cy="400050"/>
          </a:xfrm>
          <a:prstGeom prst="rect">
            <a:avLst/>
          </a:prstGeom>
          <a:solidFill>
            <a:srgbClr val="177E89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641A03-1258-D2B2-8919-70218B7AF2A3}"/>
              </a:ext>
            </a:extLst>
          </p:cNvPr>
          <p:cNvSpPr>
            <a:spLocks noGrp="1"/>
          </p:cNvSpPr>
          <p:nvPr/>
        </p:nvSpPr>
        <p:spPr>
          <a:xfrm>
            <a:off x="1181100" y="3876675"/>
            <a:ext cx="422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10000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NSTI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05A407-BF07-EF85-208F-54BA3269F976}"/>
              </a:ext>
            </a:extLst>
          </p:cNvPr>
          <p:cNvSpPr>
            <a:spLocks noGrp="1"/>
          </p:cNvSpPr>
          <p:nvPr/>
        </p:nvSpPr>
        <p:spPr>
          <a:xfrm>
            <a:off x="1181100" y="4162425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Distance to the nearest annotated tip determines prediction confidence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9FF5E72-1E2C-4CDE-EB99-A05AF06816A0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400050" cy="40005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A74CF97-0039-2EF2-39F5-CCED21C01074}"/>
              </a:ext>
            </a:extLst>
          </p:cNvPr>
          <p:cNvSpPr>
            <a:spLocks noGrp="1"/>
          </p:cNvSpPr>
          <p:nvPr/>
        </p:nvSpPr>
        <p:spPr>
          <a:xfrm>
            <a:off x="1181100" y="4829175"/>
            <a:ext cx="422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10000"/>
          </a:bodyPr>
          <a:lstStyle>
            <a:def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Final assembly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D467934-C32A-776D-E8CD-DCC4D5E2B6FE}"/>
              </a:ext>
            </a:extLst>
          </p:cNvPr>
          <p:cNvSpPr>
            <a:spLocks noGrp="1"/>
          </p:cNvSpPr>
          <p:nvPr/>
        </p:nvSpPr>
        <p:spPr>
          <a:xfrm>
            <a:off x="1181100" y="5114925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0">
                <a:solidFill>
                  <a:srgbClr val="5D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3"/>
                </a:solidFill>
                <a:latin typeface="Arial"/>
                <a:ea typeface="Arial"/>
                <a:cs typeface="Arial"/>
              </a:rPr>
              <a:t>Map taxonomy, exclude observations, retain the best mapping per ID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31EF8D0-7AA1-8FC6-3938-B8FAB38E8754}"/>
              </a:ext>
            </a:extLst>
          </p:cNvPr>
          <p:cNvSpPr>
            <a:spLocks noGrp="1"/>
          </p:cNvSpPr>
          <p:nvPr/>
        </p:nvSpPr>
        <p:spPr>
          <a:xfrm>
            <a:off x="6667500" y="1790700"/>
            <a:ext cx="4857750" cy="3667125"/>
          </a:xfrm>
          <a:prstGeom prst="roundRect">
            <a:avLst>
              <a:gd name="adj" fmla="val 2078"/>
            </a:avLst>
          </a:prstGeom>
          <a:solidFill>
            <a:srgbClr val="FFF7EE"/>
          </a:solidFill>
          <a:ln w="9525">
            <a:solidFill>
              <a:srgbClr val="F0C9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660EFB3-80B5-0CB5-8BBA-651B8D195FA1}"/>
              </a:ext>
            </a:extLst>
          </p:cNvPr>
          <p:cNvSpPr>
            <a:spLocks noGrp="1"/>
          </p:cNvSpPr>
          <p:nvPr/>
        </p:nvSpPr>
        <p:spPr>
          <a:xfrm>
            <a:off x="6953250" y="2047875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PARITY CHECKPOINTS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D076AF6-58B0-0CFD-CC21-391A1537AE2C}"/>
              </a:ext>
            </a:extLst>
          </p:cNvPr>
          <p:cNvSpPr>
            <a:spLocks noGrp="1"/>
          </p:cNvSpPr>
          <p:nvPr/>
        </p:nvSpPr>
        <p:spPr>
          <a:xfrm>
            <a:off x="6953250" y="2457450"/>
            <a:ext cx="40005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07  Tree-ordered input vector</a:t>
            </a:r>
          </a:p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09  Reconstructed states</a:t>
            </a:r>
          </a:p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10  Mappable hidden states</a:t>
            </a:r>
          </a:p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11–12  NSTI and attachment</a:t>
            </a:r>
          </a:p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13–14  Taxonomy mapping</a:t>
            </a:r>
          </a:p>
          <a:p>
            <a:pPr>
              <a:buNone/>
              <a:defRPr sz="1500" b="0">
                <a:solidFill>
                  <a:srgbClr val="1732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99  Final propagated table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F6227EA-6661-5D34-C1B9-F64FC63DB0D1}"/>
              </a:ext>
            </a:extLst>
          </p:cNvPr>
          <p:cNvSpPr>
            <a:spLocks noGrp="1"/>
          </p:cNvSpPr>
          <p:nvPr/>
        </p:nvSpPr>
        <p:spPr>
          <a:xfrm>
            <a:off x="6953250" y="476250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>
            <a:defPPr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E76F51"/>
                </a:solidFill>
                <a:latin typeface="Arial"/>
                <a:ea typeface="Arial"/>
                <a:cs typeface="Arial"/>
              </a:rPr>
              <a:t>The historical NSTI checkpoint was printed to six decimal places, so its parity tolerance is 5×10⁻⁷.</a:t>
            </a:r>
          </a:p>
        </p:txBody>
      </p:sp>
    </p:spTree>
    <p:extLst>
      <p:ext uri="{BB962C8B-B14F-4D97-AF65-F5344CB8AC3E}">
        <p14:creationId xmlns:p14="http://schemas.microsoft.com/office/powerpoint/2010/main" val="3621191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820</Words>
  <Application>Microsoft Office PowerPoint</Application>
  <PresentationFormat>Widescreen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Delaney Collins</dc:creator>
  <cp:lastModifiedBy>Delaney Collins</cp:lastModifiedBy>
  <cp:revision>1</cp:revision>
  <dcterms:created xsi:type="dcterms:W3CDTF">2026-10-29T02:26:56Z</dcterms:created>
  <dcterms:modified xsi:type="dcterms:W3CDTF">2026-10-29T23:08:43Z</dcterms:modified>
</cp:coreProperties>
</file>